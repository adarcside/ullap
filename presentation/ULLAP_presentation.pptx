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2956a68-fab7-0383-98cb-00c0e8b619ed}">
          <p14:sldIdLst>
            <p14:sldId id="256"/>
          </p14:sldIdLst>
        </p14:section>
        <p14:section name="Problem and design" id="{1056380f-aa6b-6ef0-ff5e-40bcde301889}">
          <p14:sldIdLst>
            <p14:sldId id="257"/>
            <p14:sldId id="258"/>
            <p14:sldId id="259"/>
          </p14:sldIdLst>
        </p14:section>
        <p14:section name="Verification and results" id="{79ee20e3-aa56-70f0-1b1a-b799916b3e5e}">
          <p14:sldIdLst>
            <p14:sldId id="260"/>
            <p14:sldId id="261"/>
            <p14:sldId id="262"/>
            <p14:sldId id="263"/>
            <p14:sldId id="264"/>
          </p14:sldIdLst>
        </p14:section>
        <p14:section name="On the board" id="{878cc39b-b7ec-2d69-ed90-7210e89413a3}">
          <p14:sldIdLst>
            <p14:sldId id="265"/>
            <p14:sldId id="266"/>
            <p14:sldId id="267"/>
          </p14:sldIdLst>
        </p14:section>
        <p14:section name="Discussion" id="{4bc334b9-fa10-b7dc-fa84-4d46acfaa0b4}">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Final noise reduction, dB (mean of 20 seeds)</a:t>
            </a:r>
          </a:p>
        </c:rich>
      </c:tx>
      <c:layout/>
      <c:overlay val="0"/>
    </c:title>
    <c:autoTitleDeleted val="0"/>
    <c:plotArea>
      <c:layout/>
      <c:barChart>
        <c:barDir val="col"/>
        <c:grouping val="clustered"/>
        <c:varyColors val="0"/>
        <c:ser>
          <c:idx val="0"/>
          <c:order val="0"/>
          <c:tx>
            <c:strRef>
              <c:f>Sheet1!$B$1</c:f>
              <c:strCache>
                <c:ptCount val="1"/>
                <c:pt idx="0">
                  <c:v>LMS</c:v>
                </c:pt>
              </c:strCache>
            </c:strRef>
          </c:tx>
          <c:spPr>
            <a:solidFill>
              <a:srgbClr val="1F77B4"/>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Stationary</c:v>
                  </c:pt>
                  <c:pt idx="1">
                    <c:v>Amplitude steps</c:v>
                  </c:pt>
                  <c:pt idx="2">
                    <c:v>Path switch</c:v>
                  </c:pt>
                  <c:pt idx="3">
                    <c:v>Recorded chord</c:v>
                  </c:pt>
                </c:lvl>
              </c:multiLvlStrCache>
            </c:multiLvlStrRef>
          </c:cat>
          <c:val>
            <c:numRef>
              <c:f>Sheet1!$B$2:$B$5</c:f>
              <c:numCache>
                <c:formatCode>General</c:formatCode>
                <c:ptCount val="4"/>
                <c:pt idx="0">
                  <c:v>22.39</c:v>
                </c:pt>
                <c:pt idx="1">
                  <c:v>22.36</c:v>
                </c:pt>
                <c:pt idx="2">
                  <c:v>18.95</c:v>
                </c:pt>
                <c:pt idx="3">
                  <c:v>5.69</c:v>
                </c:pt>
              </c:numCache>
            </c:numRef>
          </c:val>
        </c:ser>
        <c:ser>
          <c:idx val="1"/>
          <c:order val="1"/>
          <c:tx>
            <c:strRef>
              <c:f>Sheet1!$C$1</c:f>
              <c:strCache>
                <c:ptCount val="1"/>
                <c:pt idx="0">
                  <c:v>NLMS</c:v>
                </c:pt>
              </c:strCache>
            </c:strRef>
          </c:tx>
          <c:spPr>
            <a:solidFill>
              <a:srgbClr val="FF7F0E"/>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Stationary</c:v>
                  </c:pt>
                  <c:pt idx="1">
                    <c:v>Amplitude steps</c:v>
                  </c:pt>
                  <c:pt idx="2">
                    <c:v>Path switch</c:v>
                  </c:pt>
                  <c:pt idx="3">
                    <c:v>Recorded chord</c:v>
                  </c:pt>
                </c:lvl>
              </c:multiLvlStrCache>
            </c:multiLvlStrRef>
          </c:cat>
          <c:val>
            <c:numRef>
              <c:f>Sheet1!$C$2:$C$5</c:f>
              <c:numCache>
                <c:formatCode>General</c:formatCode>
                <c:ptCount val="4"/>
                <c:pt idx="0">
                  <c:v>22.28</c:v>
                </c:pt>
                <c:pt idx="1">
                  <c:v>24.16</c:v>
                </c:pt>
                <c:pt idx="2">
                  <c:v>18.53</c:v>
                </c:pt>
                <c:pt idx="3">
                  <c:v>5.73</c:v>
                </c:pt>
              </c:numCache>
            </c:numRef>
          </c:val>
        </c:ser>
        <c:ser>
          <c:idx val="2"/>
          <c:order val="2"/>
          <c:tx>
            <c:strRef>
              <c:f>Sheet1!$D$1</c:f>
              <c:strCache>
                <c:ptCount val="1"/>
                <c:pt idx="0">
                  <c:v>NLMS-Shift</c:v>
                </c:pt>
              </c:strCache>
            </c:strRef>
          </c:tx>
          <c:spPr>
            <a:solidFill>
              <a:srgbClr val="2CA02C"/>
            </a:solidFill>
            <a:effectLst/>
          </c:spPr>
          <c:invertIfNegative val="0"/>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Stationary</c:v>
                  </c:pt>
                  <c:pt idx="1">
                    <c:v>Amplitude steps</c:v>
                  </c:pt>
                  <c:pt idx="2">
                    <c:v>Path switch</c:v>
                  </c:pt>
                  <c:pt idx="3">
                    <c:v>Recorded chord</c:v>
                  </c:pt>
                </c:lvl>
              </c:multiLvlStrCache>
            </c:multiLvlStrRef>
          </c:cat>
          <c:val>
            <c:numRef>
              <c:f>Sheet1!$D$2:$D$5</c:f>
              <c:numCache>
                <c:formatCode>General</c:formatCode>
                <c:ptCount val="4"/>
                <c:pt idx="0">
                  <c:v>22.37</c:v>
                </c:pt>
                <c:pt idx="1">
                  <c:v>24.33</c:v>
                </c:pt>
                <c:pt idx="2">
                  <c:v>18.91</c:v>
                </c:pt>
                <c:pt idx="3">
                  <c:v>5.46</c:v>
                </c:pt>
              </c:numCache>
            </c:numRef>
          </c:val>
        </c:ser>
        <c:dLbls>
          <c:numFmt formatCode="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6350" cap="flat">
              <a:solidFill>
                <a:srgbClr val="E1E7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ULLAP is a complete adaptive noise canceller on a low-cost Cyclone IV FPGA board. Three algorithms on one core, compared fairly, and shown on the board to compute exactly what the simulation computes. The grey trace is noisy input; the amber trace is the filter output as it converges.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Widrow noise canceller. The reference mic hears only noise; the primary mic hears speech plus the noise after an acoustic path h. The filter learns h so that its output y matches the noise in d; subtracting leaves the speech. The question: how much does each algorithm gain and cost on a small FPGA, compared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use the same filter and error. They differ only in the step size. LMS uses a constant; NLMS divides by the window power; NLMS-Shift replaces the division by the next power of two above P+eps, which is a leading-one detector and a shift. The shift idea is old (Garrett 2002) — we don't claim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FPGA configures the codec itself at reset over I2C, receives the two channels over I2S, runs the core once per sample, and sends e back to the DAC. Switches give bypass and freeze (weights held, filtering continues). The core shares one multiplier: 32 cycles for the filter, then the error, then 32 weight updates. At 8 kHz the core is idle about 98%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stage is checked against the one before. The integer model mirrors every bit width, so RTL outputs are compared sample by sample, not with a tolerance. 86 RTL regression tests pass in both Icarus and Questa. The last two rows are on the real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earlier version of this work showed a 5.7 dB advantage for the shift variant; it disappeared once NLMS was regularised fairly. So all three are tuned on held-out seeds with the same criterion. Result: on stationary noise everything ties. On amplitude steps LMS's single step can't be both fast and quiet, so it is about 2 dB behind. On the tonal chord NLMS-Shift is 0.2–0.3 dB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noises from the MS-SNSD dataset, ten utterances, random 16-tap acoustic paths. The filter roughly doubles PESQ and brings STOI near 1. NR is lower than synthetic — but not because the real noise is harder: with speech removed the same filters get 18.5 to 31.9 dB. Speech is uncorrelated with the reference, so it acts as disturbance in the error that drives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the shift step exactly shows it is the NLMS step times a factor r between one half and one. Top panels: the mean factor versus input level. Bottom: NLMS-Shift (green) sits on top of NLMS with step r-bar times 2^-K (orange dashed), while NLMS with the nominal step (dotted) differs by up to 3.5 dB. On a tone the factor jumps when P+eps crosses a power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divider's area is replaced by the leading-one detector, shifter and a wider update path, so logic elements are about equal. But the shift version needs 72 instead of 130 busy cycles per sample, has fewer registers, and toggles 16% fewer bits. Vectorless Quartus power is only an upper bound; gate-level energy per sample is still being run, so we make no energy claim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FPGA records its own inputs and output with Signal Tap, triggered on the reset button. We feed the captured x and d to the integer model and compare every e sample: 25 captures, over 724 thousand samples, zero mismatches. So the silicon computes exactly what the simulation computes, even with analogue codec noise and offsets. Timing on the GPIO pins also matches the RTL.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played exactly the 2-second seed-1 simulation signals. Board NR was 2.9 to 10.6 dB below simulation for all three algorithms alike. Cause: input level, not hardware. Scaling the stimulus to the level the board received, the model matches within 0.2 dB on stationary and path-switch noise. For amplitude steps and recorded noise the quiet final quarter is limited by the analogue noise floor (about −70 dBFS), so the board is 1.7–8.1 dB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holds the weights while filtering continues: the capture matches the model with adaptation stopped from the exact sample the switch was flipped. A third logic-analyser instance recorded the DAC word in ANC and bypass mode — all samples match. After 10 minutes the timing was unchanged and no error flag 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Removing the NLMS divider is an established idea. The Huang papers on the same DE2-115 board are the closest hardware relatives, but they are fully parallel and run at megasamples per second; ours is serial at 8 kHz. None of these compares LMS, a true divider and a shift on one core with equal tuning, and few test a complete audio system with a codec on a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scope. The shift variant is not a better canceller than NLMS; it's cheaper in cycles. The acoustic environment is simulated. The analogue output wasn't recorded. Board NR depends on input level. Power numbers are not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four take-aways, then future work. Thank the audience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D3B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18872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731520" y="2743200"/>
            <a:ext cx="10058400" cy="118872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ULLAP  ·  FPGA adaptive noise canceller  ·  VIT Vellore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ULLAP</a:t>
            </a:r>
            <a:endParaRPr lang="en-US" sz="6000" dirty="0"/>
          </a:p>
        </p:txBody>
      </p:sp>
      <p:sp>
        <p:nvSpPr>
          <p:cNvPr id="3" name="Text 0"/>
          <p:cNvSpPr/>
          <p:nvPr>
            <p:ph idx="101" type="body" hasCustomPrompt="1"/>
          </p:nvPr>
        </p:nvSpPr>
        <p:spPr>
          <a:xfrm>
            <a:off x="731520" y="2743200"/>
            <a:ext cx="10058400" cy="1188720"/>
          </a:xfrm>
          <a:prstGeom prst="rect">
            <a:avLst/>
          </a:prstGeom>
          <a:noFill/>
          <a:ln/>
        </p:spPr>
        <p:txBody>
          <a:bodyPr wrap="square" lIns="0" tIns="0" rIns="0" bIns="0" rtlCol="0" anchor="t"/>
          <a:lstStyle/>
          <a:p>
            <a:pPr indent="0" marL="0">
              <a:buNone/>
            </a:pPr>
            <a:r>
              <a:rPr lang="en-US" sz="2200" dirty="0">
                <a:solidFill>
                  <a:schemeClr val="bg2"/>
                </a:solidFill>
              </a:rPr>
              <a:t>A bit-exact, processor-free FPGA adaptive noise canceller: LMS, NLMS and divider-free NLMS-Shift on the Terasic DE2-115</a:t>
            </a:r>
            <a:endParaRPr lang="en-US" sz="2200" dirty="0"/>
          </a:p>
        </p:txBody>
      </p:sp>
      <p:pic>
        <p:nvPicPr>
          <p:cNvPr id="4" name="Waveform motif" descr="preencoded.png">    </p:cNvPr>
          <p:cNvPicPr>
            <a:picLocks noChangeAspect="1"/>
          </p:cNvPicPr>
          <p:nvPr/>
        </p:nvPicPr>
        <p:blipFill>
          <a:blip r:embed="rId1"/>
          <a:stretch>
            <a:fillRect/>
          </a:stretch>
        </p:blipFill>
        <p:spPr>
          <a:xfrm>
            <a:off x="0" y="3977640"/>
            <a:ext cx="12188952" cy="1828800"/>
          </a:xfrm>
          <a:prstGeom prst="rect">
            <a:avLst/>
          </a:prstGeom>
        </p:spPr>
      </p:pic>
      <p:sp>
        <p:nvSpPr>
          <p:cNvPr id="5" name="Authors"/>
          <p:cNvSpPr txBox="1"/>
          <p:nvPr/>
        </p:nvSpPr>
        <p:spPr>
          <a:xfrm>
            <a:off x="731520" y="5897880"/>
            <a:ext cx="10698480" cy="640080"/>
          </a:xfrm>
          <a:prstGeom prst="rect">
            <a:avLst/>
          </a:prstGeom>
          <a:noFill/>
          <a:ln/>
        </p:spPr>
        <p:txBody>
          <a:bodyPr wrap="square" lIns="0" tIns="0" rIns="0" bIns="0" rtlCol="0" anchor="t"/>
          <a:lstStyle/>
          <a:p>
            <a:pPr indent="0" marL="0">
              <a:buNone/>
            </a:pPr>
            <a:r>
              <a:rPr lang="en-US" sz="1600" b="1" dirty="0">
                <a:solidFill>
                  <a:schemeClr val="bg1"/>
                </a:solidFill>
              </a:rPr>
              <a:t>Satvik Garg  ·  Aditya Gupta</a:t>
            </a:r>
            <a:endParaRPr lang="en-US" sz="1600" dirty="0"/>
          </a:p>
          <a:p>
            <a:pPr indent="0" marL="0">
              <a:buNone/>
            </a:pPr>
            <a:r>
              <a:rPr lang="en-US" sz="1600" dirty="0">
                <a:solidFill>
                  <a:schemeClr val="bg1"/>
                </a:solidFill>
              </a:rPr>
              <a:t>Guide: Prof. Jaffino G  ·  SENSE, VIT Vellore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Cancelling noise needs a reference and an adaptive filter</a:t>
            </a:r>
            <a:endParaRPr lang="en-US" sz="3200" dirty="0"/>
          </a:p>
        </p:txBody>
      </p:sp>
      <p:sp>
        <p:nvSpPr>
          <p:cNvPr id="3" name="Reference mic"/>
          <p:cNvSpPr/>
          <p:nvPr/>
        </p:nvSpPr>
        <p:spPr>
          <a:xfrm>
            <a:off x="548640" y="1783080"/>
            <a:ext cx="2560320" cy="822960"/>
          </a:xfrm>
          <a:prstGeom prst="roundRect">
            <a:avLst>
              <a:gd name="adj" fmla="val 8889"/>
            </a:avLst>
          </a:prstGeom>
          <a:solidFill>
            <a:schemeClr val="bg2"/>
          </a:solidFill>
          <a:ln w="12700">
            <a:solidFill>
              <a:schemeClr val="bg2"/>
            </a:solidFill>
            <a:prstDash val="solid"/>
          </a:ln>
        </p:spPr>
      </p:sp>
      <p:sp>
        <p:nvSpPr>
          <p:cNvPr id="4" name="Reference mic label"/>
          <p:cNvSpPr txBox="1"/>
          <p:nvPr/>
        </p:nvSpPr>
        <p:spPr>
          <a:xfrm>
            <a:off x="548640" y="1783080"/>
            <a:ext cx="2560320" cy="822960"/>
          </a:xfrm>
          <a:prstGeom prst="rect">
            <a:avLst/>
          </a:prstGeom>
          <a:noFill/>
          <a:ln/>
        </p:spPr>
        <p:txBody>
          <a:bodyPr wrap="square" lIns="635" tIns="635" rIns="635" bIns="635" rtlCol="0" anchor="ctr"/>
          <a:lstStyle/>
          <a:p>
            <a:pPr algn="ctr" indent="0" marL="0">
              <a:buNone/>
            </a:pPr>
            <a:r>
              <a:rPr lang="en-US" sz="1500" b="1" dirty="0">
                <a:solidFill>
                  <a:schemeClr val="tx1"/>
                </a:solidFill>
              </a:rPr>
              <a:t>Reference mic</a:t>
            </a:r>
            <a:endParaRPr lang="en-US" sz="1500" dirty="0"/>
          </a:p>
          <a:p>
            <a:pPr algn="ctr" indent="0" marL="0">
              <a:buNone/>
            </a:pPr>
            <a:r>
              <a:rPr lang="en-US" sz="1500" dirty="0">
                <a:solidFill>
                  <a:schemeClr val="tx1"/>
                </a:solidFill>
              </a:rPr>
              <a:t>x[n]: noise only</a:t>
            </a:r>
            <a:endParaRPr lang="en-US" sz="1500" dirty="0"/>
          </a:p>
        </p:txBody>
      </p:sp>
      <p:sp>
        <p:nvSpPr>
          <p:cNvPr id="5" name="Primary mic"/>
          <p:cNvSpPr/>
          <p:nvPr/>
        </p:nvSpPr>
        <p:spPr>
          <a:xfrm>
            <a:off x="548640" y="3246120"/>
            <a:ext cx="2560320" cy="822960"/>
          </a:xfrm>
          <a:prstGeom prst="roundRect">
            <a:avLst>
              <a:gd name="adj" fmla="val 8889"/>
            </a:avLst>
          </a:prstGeom>
          <a:solidFill>
            <a:schemeClr val="bg2"/>
          </a:solidFill>
          <a:ln w="12700">
            <a:solidFill>
              <a:schemeClr val="bg2"/>
            </a:solidFill>
            <a:prstDash val="solid"/>
          </a:ln>
        </p:spPr>
      </p:sp>
      <p:sp>
        <p:nvSpPr>
          <p:cNvPr id="6" name="Primary mic label"/>
          <p:cNvSpPr txBox="1"/>
          <p:nvPr/>
        </p:nvSpPr>
        <p:spPr>
          <a:xfrm>
            <a:off x="548640" y="3246120"/>
            <a:ext cx="2560320" cy="822960"/>
          </a:xfrm>
          <a:prstGeom prst="rect">
            <a:avLst/>
          </a:prstGeom>
          <a:noFill/>
          <a:ln/>
        </p:spPr>
        <p:txBody>
          <a:bodyPr wrap="square" lIns="635" tIns="635" rIns="635" bIns="635" rtlCol="0" anchor="ctr"/>
          <a:lstStyle/>
          <a:p>
            <a:pPr algn="ctr" indent="0" marL="0">
              <a:buNone/>
            </a:pPr>
            <a:r>
              <a:rPr lang="en-US" sz="1500" b="1" dirty="0">
                <a:solidFill>
                  <a:schemeClr val="tx1"/>
                </a:solidFill>
              </a:rPr>
              <a:t>Primary mic</a:t>
            </a:r>
            <a:endParaRPr lang="en-US" sz="1500" dirty="0"/>
          </a:p>
          <a:p>
            <a:pPr algn="ctr" indent="0" marL="0">
              <a:buNone/>
            </a:pPr>
            <a:r>
              <a:rPr lang="en-US" sz="1500" dirty="0">
                <a:solidFill>
                  <a:schemeClr val="tx1"/>
                </a:solidFill>
              </a:rPr>
              <a:t>d[n] = s[n] + h∗v[n]</a:t>
            </a:r>
            <a:endParaRPr lang="en-US" sz="1500" dirty="0"/>
          </a:p>
        </p:txBody>
      </p:sp>
      <p:sp>
        <p:nvSpPr>
          <p:cNvPr id="7" name="Adaptive filter"/>
          <p:cNvSpPr/>
          <p:nvPr/>
        </p:nvSpPr>
        <p:spPr>
          <a:xfrm>
            <a:off x="4023360" y="1783080"/>
            <a:ext cx="2743200" cy="822960"/>
          </a:xfrm>
          <a:prstGeom prst="roundRect">
            <a:avLst>
              <a:gd name="adj" fmla="val 8889"/>
            </a:avLst>
          </a:prstGeom>
          <a:solidFill>
            <a:schemeClr val="accent1"/>
          </a:solidFill>
          <a:ln w="12700">
            <a:solidFill>
              <a:schemeClr val="accent1"/>
            </a:solidFill>
            <a:prstDash val="solid"/>
          </a:ln>
        </p:spPr>
      </p:sp>
      <p:sp>
        <p:nvSpPr>
          <p:cNvPr id="8" name="Adaptive filter label"/>
          <p:cNvSpPr txBox="1"/>
          <p:nvPr/>
        </p:nvSpPr>
        <p:spPr>
          <a:xfrm>
            <a:off x="4023360" y="1783080"/>
            <a:ext cx="2743200" cy="822960"/>
          </a:xfrm>
          <a:prstGeom prst="rect">
            <a:avLst/>
          </a:prstGeom>
          <a:noFill/>
          <a:ln/>
        </p:spPr>
        <p:txBody>
          <a:bodyPr wrap="square" lIns="635" tIns="635" rIns="635" bIns="635" rtlCol="0" anchor="ctr"/>
          <a:lstStyle/>
          <a:p>
            <a:pPr algn="ctr" indent="0" marL="0">
              <a:buNone/>
            </a:pPr>
            <a:r>
              <a:rPr lang="en-US" sz="1500" b="1" dirty="0">
                <a:solidFill>
                  <a:schemeClr val="bg1"/>
                </a:solidFill>
              </a:rPr>
              <a:t>Adaptive FIR filter</a:t>
            </a:r>
            <a:endParaRPr lang="en-US" sz="1500" dirty="0"/>
          </a:p>
          <a:p>
            <a:pPr algn="ctr" indent="0" marL="0">
              <a:buNone/>
            </a:pPr>
            <a:r>
              <a:rPr lang="en-US" sz="1500" dirty="0">
                <a:solidFill>
                  <a:schemeClr val="bg1"/>
                </a:solidFill>
              </a:rPr>
              <a:t>w[n], 32 taps</a:t>
            </a:r>
            <a:endParaRPr lang="en-US" sz="1500" dirty="0"/>
          </a:p>
        </p:txBody>
      </p:sp>
      <p:sp>
        <p:nvSpPr>
          <p:cNvPr id="9" name="Output"/>
          <p:cNvSpPr/>
          <p:nvPr/>
        </p:nvSpPr>
        <p:spPr>
          <a:xfrm>
            <a:off x="9144000" y="3246120"/>
            <a:ext cx="2468880" cy="822960"/>
          </a:xfrm>
          <a:prstGeom prst="roundRect">
            <a:avLst>
              <a:gd name="adj" fmla="val 8889"/>
            </a:avLst>
          </a:prstGeom>
          <a:solidFill>
            <a:schemeClr val="accent2"/>
          </a:solidFill>
          <a:ln w="12700">
            <a:solidFill>
              <a:schemeClr val="accent2"/>
            </a:solidFill>
            <a:prstDash val="solid"/>
          </a:ln>
        </p:spPr>
      </p:sp>
      <p:sp>
        <p:nvSpPr>
          <p:cNvPr id="10" name="Output label"/>
          <p:cNvSpPr txBox="1"/>
          <p:nvPr/>
        </p:nvSpPr>
        <p:spPr>
          <a:xfrm>
            <a:off x="9144000" y="3246120"/>
            <a:ext cx="2468880" cy="822960"/>
          </a:xfrm>
          <a:prstGeom prst="rect">
            <a:avLst/>
          </a:prstGeom>
          <a:noFill/>
          <a:ln/>
        </p:spPr>
        <p:txBody>
          <a:bodyPr wrap="square" lIns="635" tIns="635" rIns="635" bIns="635" rtlCol="0" anchor="ctr"/>
          <a:lstStyle/>
          <a:p>
            <a:pPr algn="ctr" indent="0" marL="0">
              <a:buNone/>
            </a:pPr>
            <a:r>
              <a:rPr lang="en-US" sz="1500" b="1" dirty="0">
                <a:solidFill>
                  <a:schemeClr val="tx1"/>
                </a:solidFill>
              </a:rPr>
              <a:t>Output e[n] = d − y</a:t>
            </a:r>
            <a:endParaRPr lang="en-US" sz="1500" dirty="0"/>
          </a:p>
          <a:p>
            <a:pPr algn="ctr" indent="0" marL="0">
              <a:buNone/>
            </a:pPr>
            <a:r>
              <a:rPr lang="en-US" sz="1500" dirty="0">
                <a:solidFill>
                  <a:schemeClr val="tx1"/>
                </a:solidFill>
              </a:rPr>
              <a:t>≈ clean speech s[n]</a:t>
            </a:r>
            <a:endParaRPr lang="en-US" sz="1500" dirty="0"/>
          </a:p>
        </p:txBody>
      </p:sp>
      <p:sp>
        <p:nvSpPr>
          <p:cNvPr id="11" name="Summing node"/>
          <p:cNvSpPr/>
          <p:nvPr/>
        </p:nvSpPr>
        <p:spPr>
          <a:xfrm>
            <a:off x="7680960" y="3337560"/>
            <a:ext cx="640080" cy="640080"/>
          </a:xfrm>
          <a:prstGeom prst="ellipse">
            <a:avLst/>
          </a:prstGeom>
          <a:solidFill>
            <a:srgbClr val="FFFFFF"/>
          </a:solidFill>
          <a:ln w="22225">
            <a:solidFill>
              <a:srgbClr val="0D3B44"/>
            </a:solidFill>
            <a:prstDash val="solid"/>
          </a:ln>
        </p:spPr>
      </p:sp>
      <p:sp>
        <p:nvSpPr>
          <p:cNvPr id="12" name="Text 10"/>
          <p:cNvSpPr txBox="1"/>
          <p:nvPr/>
        </p:nvSpPr>
        <p:spPr>
          <a:xfrm>
            <a:off x="7680960" y="3337560"/>
            <a:ext cx="640080" cy="640080"/>
          </a:xfrm>
          <a:prstGeom prst="rect">
            <a:avLst/>
          </a:prstGeom>
          <a:noFill/>
          <a:ln/>
        </p:spPr>
        <p:txBody>
          <a:bodyPr wrap="square" lIns="0" tIns="0" rIns="0" bIns="0" rtlCol="0" anchor="ctr"/>
          <a:lstStyle/>
          <a:p>
            <a:pPr algn="ctr" indent="0" marL="0">
              <a:buNone/>
            </a:pPr>
            <a:r>
              <a:rPr lang="en-US" sz="2000" b="1" dirty="0">
                <a:solidFill>
                  <a:schemeClr val="tx2"/>
                </a:solidFill>
              </a:rPr>
              <a:t>Σ</a:t>
            </a:r>
            <a:endParaRPr lang="en-US" sz="2000" dirty="0"/>
          </a:p>
        </p:txBody>
      </p:sp>
      <p:sp>
        <p:nvSpPr>
          <p:cNvPr id="13" name="Shape 11"/>
          <p:cNvSpPr/>
          <p:nvPr/>
        </p:nvSpPr>
        <p:spPr>
          <a:xfrm>
            <a:off x="3108960" y="2194560"/>
            <a:ext cx="914400" cy="0"/>
          </a:xfrm>
          <a:prstGeom prst="line">
            <a:avLst/>
          </a:prstGeom>
          <a:noFill/>
          <a:ln w="22225">
            <a:solidFill>
              <a:srgbClr val="0D3B44"/>
            </a:solidFill>
            <a:prstDash val="solid"/>
            <a:tailEnd type="triangle"/>
          </a:ln>
        </p:spPr>
      </p:sp>
      <p:sp>
        <p:nvSpPr>
          <p:cNvPr id="14" name="Shape 12"/>
          <p:cNvSpPr/>
          <p:nvPr/>
        </p:nvSpPr>
        <p:spPr>
          <a:xfrm>
            <a:off x="6766560" y="2194560"/>
            <a:ext cx="1234440" cy="0"/>
          </a:xfrm>
          <a:prstGeom prst="line">
            <a:avLst/>
          </a:prstGeom>
          <a:noFill/>
          <a:ln w="22225">
            <a:solidFill>
              <a:srgbClr val="0D3B44"/>
            </a:solidFill>
            <a:prstDash val="solid"/>
          </a:ln>
        </p:spPr>
      </p:sp>
      <p:sp>
        <p:nvSpPr>
          <p:cNvPr id="15" name="Shape 13"/>
          <p:cNvSpPr/>
          <p:nvPr/>
        </p:nvSpPr>
        <p:spPr>
          <a:xfrm>
            <a:off x="8001000" y="2194560"/>
            <a:ext cx="0" cy="1143000"/>
          </a:xfrm>
          <a:prstGeom prst="line">
            <a:avLst/>
          </a:prstGeom>
          <a:noFill/>
          <a:ln w="22225">
            <a:solidFill>
              <a:srgbClr val="0D3B44"/>
            </a:solidFill>
            <a:prstDash val="solid"/>
            <a:tailEnd type="triangle"/>
          </a:ln>
        </p:spPr>
      </p:sp>
      <p:sp>
        <p:nvSpPr>
          <p:cNvPr id="16" name="Shape 14"/>
          <p:cNvSpPr/>
          <p:nvPr/>
        </p:nvSpPr>
        <p:spPr>
          <a:xfrm>
            <a:off x="3108960" y="3657600"/>
            <a:ext cx="4572000" cy="0"/>
          </a:xfrm>
          <a:prstGeom prst="line">
            <a:avLst/>
          </a:prstGeom>
          <a:noFill/>
          <a:ln w="22225">
            <a:solidFill>
              <a:srgbClr val="0D3B44"/>
            </a:solidFill>
            <a:prstDash val="solid"/>
            <a:tailEnd type="triangle"/>
          </a:ln>
        </p:spPr>
      </p:sp>
      <p:sp>
        <p:nvSpPr>
          <p:cNvPr id="17" name="Shape 15"/>
          <p:cNvSpPr/>
          <p:nvPr/>
        </p:nvSpPr>
        <p:spPr>
          <a:xfrm>
            <a:off x="8321040" y="3657600"/>
            <a:ext cx="822960" cy="0"/>
          </a:xfrm>
          <a:prstGeom prst="line">
            <a:avLst/>
          </a:prstGeom>
          <a:noFill/>
          <a:ln w="22225">
            <a:solidFill>
              <a:srgbClr val="0D3B44"/>
            </a:solidFill>
            <a:prstDash val="solid"/>
            <a:tailEnd type="triangle"/>
          </a:ln>
        </p:spPr>
      </p:sp>
      <p:sp>
        <p:nvSpPr>
          <p:cNvPr id="18" name="Text 16"/>
          <p:cNvSpPr txBox="1"/>
          <p:nvPr/>
        </p:nvSpPr>
        <p:spPr>
          <a:xfrm>
            <a:off x="6995160" y="1828800"/>
            <a:ext cx="731520" cy="274320"/>
          </a:xfrm>
          <a:prstGeom prst="rect">
            <a:avLst/>
          </a:prstGeom>
          <a:noFill/>
          <a:ln/>
        </p:spPr>
        <p:txBody>
          <a:bodyPr wrap="square" lIns="0" tIns="0" rIns="0" bIns="0" rtlCol="0" anchor="t"/>
          <a:lstStyle/>
          <a:p>
            <a:pPr indent="0" marL="0">
              <a:buNone/>
            </a:pPr>
            <a:r>
              <a:rPr lang="en-US" sz="1400" i="1" dirty="0">
                <a:solidFill>
                  <a:schemeClr val="tx1"/>
                </a:solidFill>
              </a:rPr>
              <a:t>y[n]</a:t>
            </a:r>
            <a:endParaRPr lang="en-US" sz="1400" dirty="0"/>
          </a:p>
        </p:txBody>
      </p:sp>
      <p:sp>
        <p:nvSpPr>
          <p:cNvPr id="19" name="Text 17"/>
          <p:cNvSpPr txBox="1"/>
          <p:nvPr/>
        </p:nvSpPr>
        <p:spPr>
          <a:xfrm>
            <a:off x="8138160" y="2926080"/>
            <a:ext cx="274320" cy="320040"/>
          </a:xfrm>
          <a:prstGeom prst="rect">
            <a:avLst/>
          </a:prstGeom>
          <a:noFill/>
          <a:ln/>
        </p:spPr>
        <p:txBody>
          <a:bodyPr wrap="square" lIns="0" tIns="0" rIns="0" bIns="0" rtlCol="0" anchor="t"/>
          <a:lstStyle/>
          <a:p>
            <a:pPr indent="0" marL="0">
              <a:buNone/>
            </a:pPr>
            <a:r>
              <a:rPr lang="en-US" sz="1800" b="1" dirty="0">
                <a:solidFill>
                  <a:schemeClr val="tx1"/>
                </a:solidFill>
              </a:rPr>
              <a:t>−</a:t>
            </a:r>
            <a:endParaRPr lang="en-US" sz="1800" dirty="0"/>
          </a:p>
        </p:txBody>
      </p:sp>
      <p:sp>
        <p:nvSpPr>
          <p:cNvPr id="20" name="Text 18"/>
          <p:cNvSpPr txBox="1"/>
          <p:nvPr/>
        </p:nvSpPr>
        <p:spPr>
          <a:xfrm>
            <a:off x="7315200" y="3291840"/>
            <a:ext cx="274320" cy="320040"/>
          </a:xfrm>
          <a:prstGeom prst="rect">
            <a:avLst/>
          </a:prstGeom>
          <a:noFill/>
          <a:ln/>
        </p:spPr>
        <p:txBody>
          <a:bodyPr wrap="square" lIns="0" tIns="0" rIns="0" bIns="0" rtlCol="0" anchor="t"/>
          <a:lstStyle/>
          <a:p>
            <a:pPr indent="0" marL="0">
              <a:buNone/>
            </a:pPr>
            <a:r>
              <a:rPr lang="en-US" sz="1800" b="1" dirty="0">
                <a:solidFill>
                  <a:schemeClr val="tx1"/>
                </a:solidFill>
              </a:rPr>
              <a:t>+</a:t>
            </a:r>
            <a:endParaRPr lang="en-US" sz="1800" dirty="0"/>
          </a:p>
        </p:txBody>
      </p:sp>
      <p:sp>
        <p:nvSpPr>
          <p:cNvPr id="21" name="Shape 19"/>
          <p:cNvSpPr/>
          <p:nvPr/>
        </p:nvSpPr>
        <p:spPr>
          <a:xfrm>
            <a:off x="10378440" y="1463040"/>
            <a:ext cx="0" cy="1783080"/>
          </a:xfrm>
          <a:prstGeom prst="line">
            <a:avLst/>
          </a:prstGeom>
          <a:noFill/>
          <a:ln w="19050">
            <a:solidFill>
              <a:srgbClr val="0E7C86"/>
            </a:solidFill>
            <a:prstDash val="dash"/>
          </a:ln>
        </p:spPr>
      </p:sp>
      <p:sp>
        <p:nvSpPr>
          <p:cNvPr id="22" name="Shape 20"/>
          <p:cNvSpPr/>
          <p:nvPr/>
        </p:nvSpPr>
        <p:spPr>
          <a:xfrm>
            <a:off x="5394960" y="1463040"/>
            <a:ext cx="4983480" cy="0"/>
          </a:xfrm>
          <a:prstGeom prst="line">
            <a:avLst/>
          </a:prstGeom>
          <a:noFill/>
          <a:ln w="19050">
            <a:solidFill>
              <a:srgbClr val="0E7C86"/>
            </a:solidFill>
            <a:prstDash val="dash"/>
          </a:ln>
        </p:spPr>
      </p:sp>
      <p:sp>
        <p:nvSpPr>
          <p:cNvPr id="23" name="Shape 21"/>
          <p:cNvSpPr/>
          <p:nvPr/>
        </p:nvSpPr>
        <p:spPr>
          <a:xfrm>
            <a:off x="5394960" y="1463040"/>
            <a:ext cx="0" cy="320040"/>
          </a:xfrm>
          <a:prstGeom prst="line">
            <a:avLst/>
          </a:prstGeom>
          <a:noFill/>
          <a:ln w="19050">
            <a:solidFill>
              <a:srgbClr val="0E7C86"/>
            </a:solidFill>
            <a:prstDash val="dash"/>
            <a:tailEnd type="triangle"/>
          </a:ln>
        </p:spPr>
      </p:sp>
      <p:sp>
        <p:nvSpPr>
          <p:cNvPr id="24" name="Text 22"/>
          <p:cNvSpPr txBox="1"/>
          <p:nvPr/>
        </p:nvSpPr>
        <p:spPr>
          <a:xfrm>
            <a:off x="8229600" y="1572768"/>
            <a:ext cx="2057400" cy="548640"/>
          </a:xfrm>
          <a:prstGeom prst="rect">
            <a:avLst/>
          </a:prstGeom>
          <a:noFill/>
          <a:ln/>
        </p:spPr>
        <p:txBody>
          <a:bodyPr wrap="square" lIns="0" tIns="0" rIns="0" bIns="0" rtlCol="0" anchor="t"/>
          <a:lstStyle/>
          <a:p>
            <a:pPr indent="0" marL="0">
              <a:buNone/>
            </a:pPr>
            <a:r>
              <a:rPr lang="en-US" sz="1300" i="1" dirty="0">
                <a:solidFill>
                  <a:schemeClr val="accent1"/>
                </a:solidFill>
              </a:rPr>
              <a:t>e[n] drives the weight update</a:t>
            </a:r>
            <a:endParaRPr lang="en-US" sz="1300" dirty="0"/>
          </a:p>
        </p:txBody>
      </p:sp>
      <p:sp>
        <p:nvSpPr>
          <p:cNvPr id="25" name="Card Sample by sample, fixed latency"/>
          <p:cNvSpPr/>
          <p:nvPr/>
        </p:nvSpPr>
        <p:spPr>
          <a:xfrm>
            <a:off x="548640" y="4526280"/>
            <a:ext cx="3520440" cy="1645920"/>
          </a:xfrm>
          <a:prstGeom prst="roundRect">
            <a:avLst>
              <a:gd name="adj" fmla="val 4444"/>
            </a:avLst>
          </a:prstGeom>
          <a:solidFill>
            <a:schemeClr val="bg2"/>
          </a:solidFill>
          <a:ln w="12700">
            <a:solidFill>
              <a:schemeClr val="bg2"/>
            </a:solidFill>
            <a:prstDash val="solid"/>
          </a:ln>
        </p:spPr>
      </p:sp>
      <p:sp>
        <p:nvSpPr>
          <p:cNvPr id="26" name="Sample by sample, fixed latency circle"/>
          <p:cNvSpPr/>
          <p:nvPr/>
        </p:nvSpPr>
        <p:spPr>
          <a:xfrm>
            <a:off x="777240" y="4754880"/>
            <a:ext cx="548640" cy="548640"/>
          </a:xfrm>
          <a:prstGeom prst="ellipse">
            <a:avLst/>
          </a:prstGeom>
          <a:solidFill>
            <a:schemeClr val="accent1"/>
          </a:solidFill>
          <a:ln w="12700">
            <a:solidFill>
              <a:schemeClr val="accent1"/>
            </a:solidFill>
            <a:prstDash val="solid"/>
          </a:ln>
        </p:spPr>
      </p:sp>
      <p:pic>
        <p:nvPicPr>
          <p:cNvPr id="27" name="Sample by sample, fixed latency icon" descr="preencoded.png">    </p:cNvPr>
          <p:cNvPicPr>
            <a:picLocks noChangeAspect="1"/>
          </p:cNvPicPr>
          <p:nvPr/>
        </p:nvPicPr>
        <p:blipFill>
          <a:blip r:embed="rId1"/>
          <a:stretch>
            <a:fillRect/>
          </a:stretch>
        </p:blipFill>
        <p:spPr>
          <a:xfrm>
            <a:off x="914400" y="4892040"/>
            <a:ext cx="274320" cy="274320"/>
          </a:xfrm>
          <a:prstGeom prst="rect">
            <a:avLst/>
          </a:prstGeom>
        </p:spPr>
      </p:pic>
      <p:sp>
        <p:nvSpPr>
          <p:cNvPr id="28" name="Text 25"/>
          <p:cNvSpPr txBox="1"/>
          <p:nvPr/>
        </p:nvSpPr>
        <p:spPr>
          <a:xfrm>
            <a:off x="1463040" y="4754880"/>
            <a:ext cx="2423160" cy="548640"/>
          </a:xfrm>
          <a:prstGeom prst="rect">
            <a:avLst/>
          </a:prstGeom>
          <a:noFill/>
          <a:ln/>
        </p:spPr>
        <p:txBody>
          <a:bodyPr wrap="square" lIns="0" tIns="0" rIns="0" bIns="0" rtlCol="0" anchor="ctr"/>
          <a:lstStyle/>
          <a:p>
            <a:pPr indent="0" marL="0">
              <a:buNone/>
            </a:pPr>
            <a:r>
              <a:rPr lang="en-US" sz="1600" b="1" dirty="0">
                <a:solidFill>
                  <a:schemeClr val="tx2"/>
                </a:solidFill>
              </a:rPr>
              <a:t>Sample by sample, fixed latency</a:t>
            </a:r>
            <a:endParaRPr lang="en-US" sz="1600" dirty="0"/>
          </a:p>
        </p:txBody>
      </p:sp>
      <p:sp>
        <p:nvSpPr>
          <p:cNvPr id="29" name="Text 26"/>
          <p:cNvSpPr txBox="1"/>
          <p:nvPr/>
        </p:nvSpPr>
        <p:spPr>
          <a:xfrm>
            <a:off x="777240" y="5413248"/>
            <a:ext cx="3108960" cy="685800"/>
          </a:xfrm>
          <a:prstGeom prst="rect">
            <a:avLst/>
          </a:prstGeom>
          <a:noFill/>
          <a:ln/>
        </p:spPr>
        <p:txBody>
          <a:bodyPr wrap="square" lIns="0" tIns="0" rIns="0" bIns="0" rtlCol="0" anchor="t"/>
          <a:lstStyle/>
          <a:p>
            <a:pPr indent="0" marL="0">
              <a:buNone/>
            </a:pPr>
            <a:r>
              <a:rPr lang="en-US" sz="1400" dirty="0">
                <a:solidFill>
                  <a:schemeClr val="tx1"/>
                </a:solidFill>
              </a:rPr>
              <a:t>A dedicated FPGA datapath answers 37 clock cycles (0.74 µs) after each input, with no processor or OS.</a:t>
            </a:r>
            <a:endParaRPr lang="en-US" sz="1400" dirty="0"/>
          </a:p>
        </p:txBody>
      </p:sp>
      <p:sp>
        <p:nvSpPr>
          <p:cNvPr id="30" name="Card LMS is cheap but level-sensitive"/>
          <p:cNvSpPr/>
          <p:nvPr/>
        </p:nvSpPr>
        <p:spPr>
          <a:xfrm>
            <a:off x="4343400" y="4526280"/>
            <a:ext cx="3520440" cy="1645920"/>
          </a:xfrm>
          <a:prstGeom prst="roundRect">
            <a:avLst>
              <a:gd name="adj" fmla="val 4444"/>
            </a:avLst>
          </a:prstGeom>
          <a:solidFill>
            <a:schemeClr val="bg2"/>
          </a:solidFill>
          <a:ln w="12700">
            <a:solidFill>
              <a:schemeClr val="bg2"/>
            </a:solidFill>
            <a:prstDash val="solid"/>
          </a:ln>
        </p:spPr>
      </p:sp>
      <p:sp>
        <p:nvSpPr>
          <p:cNvPr id="31" name="LMS is cheap but level-sensitive circle"/>
          <p:cNvSpPr/>
          <p:nvPr/>
        </p:nvSpPr>
        <p:spPr>
          <a:xfrm>
            <a:off x="4572000" y="4754880"/>
            <a:ext cx="548640" cy="548640"/>
          </a:xfrm>
          <a:prstGeom prst="ellipse">
            <a:avLst/>
          </a:prstGeom>
          <a:solidFill>
            <a:schemeClr val="accent1"/>
          </a:solidFill>
          <a:ln w="12700">
            <a:solidFill>
              <a:schemeClr val="accent1"/>
            </a:solidFill>
            <a:prstDash val="solid"/>
          </a:ln>
        </p:spPr>
      </p:sp>
      <p:pic>
        <p:nvPicPr>
          <p:cNvPr id="32" name="LMS is cheap but level-sensitive icon" descr="preencoded.png">    </p:cNvPr>
          <p:cNvPicPr>
            <a:picLocks noChangeAspect="1"/>
          </p:cNvPicPr>
          <p:nvPr/>
        </p:nvPicPr>
        <p:blipFill>
          <a:blip r:embed="rId2"/>
          <a:stretch>
            <a:fillRect/>
          </a:stretch>
        </p:blipFill>
        <p:spPr>
          <a:xfrm>
            <a:off x="4709160" y="4892040"/>
            <a:ext cx="274320" cy="274320"/>
          </a:xfrm>
          <a:prstGeom prst="rect">
            <a:avLst/>
          </a:prstGeom>
        </p:spPr>
      </p:pic>
      <p:sp>
        <p:nvSpPr>
          <p:cNvPr id="33" name="Text 29"/>
          <p:cNvSpPr txBox="1"/>
          <p:nvPr/>
        </p:nvSpPr>
        <p:spPr>
          <a:xfrm>
            <a:off x="5257800" y="4754880"/>
            <a:ext cx="2423160" cy="548640"/>
          </a:xfrm>
          <a:prstGeom prst="rect">
            <a:avLst/>
          </a:prstGeom>
          <a:noFill/>
          <a:ln/>
        </p:spPr>
        <p:txBody>
          <a:bodyPr wrap="square" lIns="0" tIns="0" rIns="0" bIns="0" rtlCol="0" anchor="ctr"/>
          <a:lstStyle/>
          <a:p>
            <a:pPr indent="0" marL="0">
              <a:buNone/>
            </a:pPr>
            <a:r>
              <a:rPr lang="en-US" sz="1600" b="1" dirty="0">
                <a:solidFill>
                  <a:schemeClr val="tx2"/>
                </a:solidFill>
              </a:rPr>
              <a:t>LMS is cheap but level-sensitive</a:t>
            </a:r>
            <a:endParaRPr lang="en-US" sz="1600" dirty="0"/>
          </a:p>
        </p:txBody>
      </p:sp>
      <p:sp>
        <p:nvSpPr>
          <p:cNvPr id="34" name="Text 30"/>
          <p:cNvSpPr txBox="1"/>
          <p:nvPr/>
        </p:nvSpPr>
        <p:spPr>
          <a:xfrm>
            <a:off x="4572000" y="5413248"/>
            <a:ext cx="3108960" cy="685800"/>
          </a:xfrm>
          <a:prstGeom prst="rect">
            <a:avLst/>
          </a:prstGeom>
          <a:noFill/>
          <a:ln/>
        </p:spPr>
        <p:txBody>
          <a:bodyPr wrap="square" lIns="0" tIns="0" rIns="0" bIns="0" rtlCol="0" anchor="t"/>
          <a:lstStyle/>
          <a:p>
            <a:pPr indent="0" marL="0">
              <a:buNone/>
            </a:pPr>
            <a:r>
              <a:rPr lang="en-US" sz="1400" dirty="0">
                <a:solidFill>
                  <a:schemeClr val="tx1"/>
                </a:solidFill>
              </a:rPr>
              <a:t>One fixed step size is too slow when the noise drops or too noisy when it rises.</a:t>
            </a:r>
            <a:endParaRPr lang="en-US" sz="1400" dirty="0"/>
          </a:p>
        </p:txBody>
      </p:sp>
      <p:sp>
        <p:nvSpPr>
          <p:cNvPr id="35" name="Card NLMS needs a division per sample"/>
          <p:cNvSpPr/>
          <p:nvPr/>
        </p:nvSpPr>
        <p:spPr>
          <a:xfrm>
            <a:off x="8138160" y="4526280"/>
            <a:ext cx="3520440" cy="1645920"/>
          </a:xfrm>
          <a:prstGeom prst="roundRect">
            <a:avLst>
              <a:gd name="adj" fmla="val 4444"/>
            </a:avLst>
          </a:prstGeom>
          <a:solidFill>
            <a:schemeClr val="bg2"/>
          </a:solidFill>
          <a:ln w="12700">
            <a:solidFill>
              <a:schemeClr val="bg2"/>
            </a:solidFill>
            <a:prstDash val="solid"/>
          </a:ln>
        </p:spPr>
      </p:sp>
      <p:sp>
        <p:nvSpPr>
          <p:cNvPr id="36" name="NLMS needs a division per sample circle"/>
          <p:cNvSpPr/>
          <p:nvPr/>
        </p:nvSpPr>
        <p:spPr>
          <a:xfrm>
            <a:off x="8366760" y="4754880"/>
            <a:ext cx="548640" cy="548640"/>
          </a:xfrm>
          <a:prstGeom prst="ellipse">
            <a:avLst/>
          </a:prstGeom>
          <a:solidFill>
            <a:schemeClr val="accent1"/>
          </a:solidFill>
          <a:ln w="12700">
            <a:solidFill>
              <a:schemeClr val="accent1"/>
            </a:solidFill>
            <a:prstDash val="solid"/>
          </a:ln>
        </p:spPr>
      </p:sp>
      <p:pic>
        <p:nvPicPr>
          <p:cNvPr id="37" name="NLMS needs a division per sample icon" descr="preencoded.png">    </p:cNvPr>
          <p:cNvPicPr>
            <a:picLocks noChangeAspect="1"/>
          </p:cNvPicPr>
          <p:nvPr/>
        </p:nvPicPr>
        <p:blipFill>
          <a:blip r:embed="rId3"/>
          <a:stretch>
            <a:fillRect/>
          </a:stretch>
        </p:blipFill>
        <p:spPr>
          <a:xfrm>
            <a:off x="8503920" y="4892040"/>
            <a:ext cx="274320" cy="274320"/>
          </a:xfrm>
          <a:prstGeom prst="rect">
            <a:avLst/>
          </a:prstGeom>
        </p:spPr>
      </p:pic>
      <p:sp>
        <p:nvSpPr>
          <p:cNvPr id="38" name="Text 33"/>
          <p:cNvSpPr txBox="1"/>
          <p:nvPr/>
        </p:nvSpPr>
        <p:spPr>
          <a:xfrm>
            <a:off x="9052560" y="4754880"/>
            <a:ext cx="2423160" cy="548640"/>
          </a:xfrm>
          <a:prstGeom prst="rect">
            <a:avLst/>
          </a:prstGeom>
          <a:noFill/>
          <a:ln/>
        </p:spPr>
        <p:txBody>
          <a:bodyPr wrap="square" lIns="0" tIns="0" rIns="0" bIns="0" rtlCol="0" anchor="ctr"/>
          <a:lstStyle/>
          <a:p>
            <a:pPr indent="0" marL="0">
              <a:buNone/>
            </a:pPr>
            <a:r>
              <a:rPr lang="en-US" sz="1600" b="1" dirty="0">
                <a:solidFill>
                  <a:schemeClr val="tx2"/>
                </a:solidFill>
              </a:rPr>
              <a:t>NLMS needs a division per sample</a:t>
            </a:r>
            <a:endParaRPr lang="en-US" sz="1600" dirty="0"/>
          </a:p>
        </p:txBody>
      </p:sp>
      <p:sp>
        <p:nvSpPr>
          <p:cNvPr id="39" name="Text 34"/>
          <p:cNvSpPr txBox="1"/>
          <p:nvPr/>
        </p:nvSpPr>
        <p:spPr>
          <a:xfrm>
            <a:off x="8366760" y="5413248"/>
            <a:ext cx="3108960" cy="685800"/>
          </a:xfrm>
          <a:prstGeom prst="rect">
            <a:avLst/>
          </a:prstGeom>
          <a:noFill/>
          <a:ln/>
        </p:spPr>
        <p:txBody>
          <a:bodyPr wrap="square" lIns="0" tIns="0" rIns="0" bIns="0" rtlCol="0" anchor="t"/>
          <a:lstStyle/>
          <a:p>
            <a:pPr indent="0" marL="0">
              <a:buNone/>
            </a:pPr>
            <a:r>
              <a:rPr lang="en-US" sz="1400" dirty="0">
                <a:solidFill>
                  <a:schemeClr val="tx1"/>
                </a:solidFill>
              </a:rPr>
              <a:t>Normalising by input power fixes the level problem, but a hardware divider costs logic and cycles.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Three algorithms share one update equation</a:t>
            </a:r>
            <a:endParaRPr lang="en-US" sz="3200" dirty="0"/>
          </a:p>
        </p:txBody>
      </p:sp>
      <p:sp>
        <p:nvSpPr>
          <p:cNvPr id="3" name="Shared equation"/>
          <p:cNvSpPr/>
          <p:nvPr/>
        </p:nvSpPr>
        <p:spPr>
          <a:xfrm>
            <a:off x="548640" y="1280160"/>
            <a:ext cx="11064240" cy="777240"/>
          </a:xfrm>
          <a:prstGeom prst="roundRect">
            <a:avLst>
              <a:gd name="adj" fmla="val 9412"/>
            </a:avLst>
          </a:prstGeom>
          <a:solidFill>
            <a:schemeClr val="bg2"/>
          </a:solidFill>
          <a:ln w="12700">
            <a:solidFill>
              <a:schemeClr val="bg2"/>
            </a:solidFill>
            <a:prstDash val="solid"/>
          </a:ln>
        </p:spPr>
      </p:sp>
      <p:sp>
        <p:nvSpPr>
          <p:cNvPr id="4" name="Text 2"/>
          <p:cNvSpPr txBox="1"/>
          <p:nvPr/>
        </p:nvSpPr>
        <p:spPr>
          <a:xfrm>
            <a:off x="822960" y="1280160"/>
            <a:ext cx="10515600" cy="7772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y[n] = w</a:t>
            </a:r>
            <a:pPr algn="ctr" indent="0" marL="0">
              <a:buNone/>
            </a:pPr>
            <a:r>
              <a:rPr lang="en-US" sz="2000" b="1" baseline="30000" dirty="0">
                <a:solidFill>
                  <a:schemeClr val="tx2"/>
                </a:solidFill>
                <a:latin typeface="Cambria" pitchFamily="34" charset="0"/>
                <a:ea typeface="Cambria" pitchFamily="34" charset="-122"/>
                <a:cs typeface="Cambria" pitchFamily="34" charset="-120"/>
              </a:rPr>
              <a:t>T</a:t>
            </a:r>
            <a:pPr algn="ctr" indent="0" marL="0">
              <a:buNone/>
            </a:pPr>
            <a:r>
              <a:rPr lang="en-US" sz="2000" b="1" dirty="0">
                <a:solidFill>
                  <a:schemeClr val="tx2"/>
                </a:solidFill>
                <a:latin typeface="Cambria" pitchFamily="34" charset="0"/>
                <a:ea typeface="Cambria" pitchFamily="34" charset="-122"/>
                <a:cs typeface="Cambria" pitchFamily="34" charset="-120"/>
              </a:rPr>
              <a:t>[n] x[n]      e[n] = d[n] − y[n]      w[n+1] = w[n] + μ[n] · e[n] · x[n]</a:t>
            </a:r>
            <a:endParaRPr lang="en-US" sz="2000" dirty="0"/>
          </a:p>
        </p:txBody>
      </p:sp>
      <p:sp>
        <p:nvSpPr>
          <p:cNvPr id="5" name="Card LMS"/>
          <p:cNvSpPr/>
          <p:nvPr/>
        </p:nvSpPr>
        <p:spPr>
          <a:xfrm>
            <a:off x="548640" y="2331720"/>
            <a:ext cx="3520440" cy="3063240"/>
          </a:xfrm>
          <a:prstGeom prst="roundRect">
            <a:avLst>
              <a:gd name="adj" fmla="val 2388"/>
            </a:avLst>
          </a:prstGeom>
          <a:solidFill>
            <a:schemeClr val="bg2"/>
          </a:solidFill>
          <a:ln w="12700">
            <a:solidFill>
              <a:schemeClr val="bg2"/>
            </a:solidFill>
            <a:prstDash val="solid"/>
          </a:ln>
        </p:spPr>
      </p:sp>
      <p:sp>
        <p:nvSpPr>
          <p:cNvPr id="6" name="LMS header"/>
          <p:cNvSpPr/>
          <p:nvPr/>
        </p:nvSpPr>
        <p:spPr>
          <a:xfrm>
            <a:off x="548640" y="2331720"/>
            <a:ext cx="3520440" cy="594360"/>
          </a:xfrm>
          <a:prstGeom prst="roundRect">
            <a:avLst>
              <a:gd name="adj" fmla="val 12308"/>
            </a:avLst>
          </a:prstGeom>
          <a:solidFill>
            <a:schemeClr val="accent3"/>
          </a:solidFill>
          <a:ln w="12700">
            <a:solidFill>
              <a:schemeClr val="accent3"/>
            </a:solidFill>
            <a:prstDash val="solid"/>
          </a:ln>
        </p:spPr>
      </p:sp>
      <p:sp>
        <p:nvSpPr>
          <p:cNvPr id="7" name="Text 5"/>
          <p:cNvSpPr txBox="1"/>
          <p:nvPr/>
        </p:nvSpPr>
        <p:spPr>
          <a:xfrm>
            <a:off x="777240" y="2331720"/>
            <a:ext cx="3108960" cy="594360"/>
          </a:xfrm>
          <a:prstGeom prst="rect">
            <a:avLst/>
          </a:prstGeom>
          <a:noFill/>
          <a:ln/>
        </p:spPr>
        <p:txBody>
          <a:bodyPr wrap="square" lIns="0" tIns="0" rIns="0" bIns="0" rtlCol="0" anchor="ctr"/>
          <a:lstStyle/>
          <a:p>
            <a:pPr indent="0" marL="0">
              <a:buNone/>
            </a:pPr>
            <a:r>
              <a:rPr lang="en-US" sz="2000" b="1" dirty="0">
                <a:solidFill>
                  <a:schemeClr val="bg1"/>
                </a:solidFill>
              </a:rPr>
              <a:t>LMS</a:t>
            </a:r>
            <a:endParaRPr lang="en-US" sz="2000" dirty="0"/>
          </a:p>
        </p:txBody>
      </p:sp>
      <p:sp>
        <p:nvSpPr>
          <p:cNvPr id="8" name="Text 6"/>
          <p:cNvSpPr txBox="1"/>
          <p:nvPr/>
        </p:nvSpPr>
        <p:spPr>
          <a:xfrm>
            <a:off x="777240" y="3063240"/>
            <a:ext cx="3108960" cy="45720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μ[n] = μ</a:t>
            </a:r>
            <a:endParaRPr lang="en-US" sz="1700" dirty="0"/>
          </a:p>
        </p:txBody>
      </p:sp>
      <p:sp>
        <p:nvSpPr>
          <p:cNvPr id="9" name="Text 7"/>
          <p:cNvSpPr txBox="1"/>
          <p:nvPr/>
        </p:nvSpPr>
        <p:spPr>
          <a:xfrm>
            <a:off x="777240" y="3520440"/>
            <a:ext cx="3108960" cy="365760"/>
          </a:xfrm>
          <a:prstGeom prst="rect">
            <a:avLst/>
          </a:prstGeom>
          <a:noFill/>
          <a:ln/>
        </p:spPr>
        <p:txBody>
          <a:bodyPr wrap="square" lIns="0" tIns="0" rIns="0" bIns="0" rtlCol="0" anchor="t"/>
          <a:lstStyle/>
          <a:p>
            <a:pPr indent="0" marL="0">
              <a:buNone/>
            </a:pPr>
            <a:r>
              <a:rPr lang="en-US" sz="1300" i="1" dirty="0">
                <a:solidFill>
                  <a:schemeClr val="accent6"/>
                </a:solidFill>
              </a:rPr>
              <a:t>Fixed step, μ = 0.25</a:t>
            </a:r>
            <a:endParaRPr lang="en-US" sz="1300" dirty="0"/>
          </a:p>
        </p:txBody>
      </p:sp>
      <p:sp>
        <p:nvSpPr>
          <p:cNvPr id="10" name="Text 8"/>
          <p:cNvSpPr txBox="1"/>
          <p:nvPr/>
        </p:nvSpPr>
        <p:spPr>
          <a:xfrm>
            <a:off x="777240" y="3977640"/>
            <a:ext cx="315468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Smallest: 1,792 logic elements</a:t>
            </a:r>
            <a:endParaRPr lang="en-US" sz="1500" dirty="0"/>
          </a:p>
          <a:p>
            <a:pPr marL="342900" indent="-342900">
              <a:spcAft>
                <a:spcPts val="600"/>
              </a:spcAft>
              <a:buSzPct val="100000"/>
              <a:buChar char="•"/>
            </a:pPr>
            <a:r>
              <a:rPr lang="en-US" sz="1500" dirty="0">
                <a:solidFill>
                  <a:schemeClr val="tx1"/>
                </a:solidFill>
              </a:rPr>
              <a:t>73 busy cycles per sample</a:t>
            </a:r>
            <a:endParaRPr lang="en-US" sz="1500" dirty="0"/>
          </a:p>
          <a:p>
            <a:pPr marL="342900" indent="-342900">
              <a:spcAft>
                <a:spcPts val="600"/>
              </a:spcAft>
              <a:buSzPct val="100000"/>
              <a:buChar char="•"/>
            </a:pPr>
            <a:r>
              <a:rPr lang="en-US" sz="1500" dirty="0">
                <a:solidFill>
                  <a:schemeClr val="tx1"/>
                </a:solidFill>
              </a:rPr>
              <a:t>Step is right for only one input level</a:t>
            </a:r>
            <a:endParaRPr lang="en-US" sz="1500" dirty="0"/>
          </a:p>
        </p:txBody>
      </p:sp>
      <p:sp>
        <p:nvSpPr>
          <p:cNvPr id="11" name="Card NLMS"/>
          <p:cNvSpPr/>
          <p:nvPr/>
        </p:nvSpPr>
        <p:spPr>
          <a:xfrm>
            <a:off x="4343400" y="2331720"/>
            <a:ext cx="3520440" cy="3063240"/>
          </a:xfrm>
          <a:prstGeom prst="roundRect">
            <a:avLst>
              <a:gd name="adj" fmla="val 2388"/>
            </a:avLst>
          </a:prstGeom>
          <a:solidFill>
            <a:schemeClr val="bg2"/>
          </a:solidFill>
          <a:ln w="12700">
            <a:solidFill>
              <a:schemeClr val="bg2"/>
            </a:solidFill>
            <a:prstDash val="solid"/>
          </a:ln>
        </p:spPr>
      </p:sp>
      <p:sp>
        <p:nvSpPr>
          <p:cNvPr id="12" name="NLMS header"/>
          <p:cNvSpPr/>
          <p:nvPr/>
        </p:nvSpPr>
        <p:spPr>
          <a:xfrm>
            <a:off x="4343400" y="2331720"/>
            <a:ext cx="3520440" cy="594360"/>
          </a:xfrm>
          <a:prstGeom prst="roundRect">
            <a:avLst>
              <a:gd name="adj" fmla="val 12308"/>
            </a:avLst>
          </a:prstGeom>
          <a:solidFill>
            <a:schemeClr val="accent4"/>
          </a:solidFill>
          <a:ln w="12700">
            <a:solidFill>
              <a:schemeClr val="accent4"/>
            </a:solidFill>
            <a:prstDash val="solid"/>
          </a:ln>
        </p:spPr>
      </p:sp>
      <p:sp>
        <p:nvSpPr>
          <p:cNvPr id="13" name="Text 11"/>
          <p:cNvSpPr txBox="1"/>
          <p:nvPr/>
        </p:nvSpPr>
        <p:spPr>
          <a:xfrm>
            <a:off x="4572000" y="2331720"/>
            <a:ext cx="3108960" cy="594360"/>
          </a:xfrm>
          <a:prstGeom prst="rect">
            <a:avLst/>
          </a:prstGeom>
          <a:noFill/>
          <a:ln/>
        </p:spPr>
        <p:txBody>
          <a:bodyPr wrap="square" lIns="0" tIns="0" rIns="0" bIns="0" rtlCol="0" anchor="ctr"/>
          <a:lstStyle/>
          <a:p>
            <a:pPr indent="0" marL="0">
              <a:buNone/>
            </a:pPr>
            <a:r>
              <a:rPr lang="en-US" sz="2000" b="1" dirty="0">
                <a:solidFill>
                  <a:schemeClr val="bg1"/>
                </a:solidFill>
              </a:rPr>
              <a:t>NLMS</a:t>
            </a:r>
            <a:endParaRPr lang="en-US" sz="2000" dirty="0"/>
          </a:p>
        </p:txBody>
      </p:sp>
      <p:sp>
        <p:nvSpPr>
          <p:cNvPr id="14" name="Text 12"/>
          <p:cNvSpPr txBox="1"/>
          <p:nvPr/>
        </p:nvSpPr>
        <p:spPr>
          <a:xfrm>
            <a:off x="4572000" y="3063240"/>
            <a:ext cx="3108960" cy="45720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μ[n] = μ / (P[n] + ε)</a:t>
            </a:r>
            <a:endParaRPr lang="en-US" sz="1700" dirty="0"/>
          </a:p>
        </p:txBody>
      </p:sp>
      <p:sp>
        <p:nvSpPr>
          <p:cNvPr id="15" name="Text 13"/>
          <p:cNvSpPr txBox="1"/>
          <p:nvPr/>
        </p:nvSpPr>
        <p:spPr>
          <a:xfrm>
            <a:off x="4572000" y="3520440"/>
            <a:ext cx="3108960" cy="365760"/>
          </a:xfrm>
          <a:prstGeom prst="rect">
            <a:avLst/>
          </a:prstGeom>
          <a:noFill/>
          <a:ln/>
        </p:spPr>
        <p:txBody>
          <a:bodyPr wrap="square" lIns="0" tIns="0" rIns="0" bIns="0" rtlCol="0" anchor="t"/>
          <a:lstStyle/>
          <a:p>
            <a:pPr indent="0" marL="0">
              <a:buNone/>
            </a:pPr>
            <a:r>
              <a:rPr lang="en-US" sz="1300" i="1" dirty="0">
                <a:solidFill>
                  <a:schemeClr val="accent6"/>
                </a:solidFill>
              </a:rPr>
              <a:t>P[n] = ‖x[n]‖², restoring divider</a:t>
            </a:r>
            <a:endParaRPr lang="en-US" sz="1300" dirty="0"/>
          </a:p>
        </p:txBody>
      </p:sp>
      <p:sp>
        <p:nvSpPr>
          <p:cNvPr id="16" name="Text 14"/>
          <p:cNvSpPr txBox="1"/>
          <p:nvPr/>
        </p:nvSpPr>
        <p:spPr>
          <a:xfrm>
            <a:off x="4572000" y="3977640"/>
            <a:ext cx="315468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Level-independent adaptation</a:t>
            </a:r>
            <a:endParaRPr lang="en-US" sz="1500" dirty="0"/>
          </a:p>
          <a:p>
            <a:pPr marL="342900" indent="-342900">
              <a:spcAft>
                <a:spcPts val="600"/>
              </a:spcAft>
              <a:buSzPct val="100000"/>
              <a:buChar char="•"/>
            </a:pPr>
            <a:r>
              <a:rPr lang="en-US" sz="1500" dirty="0">
                <a:solidFill>
                  <a:schemeClr val="tx1"/>
                </a:solidFill>
              </a:rPr>
              <a:t>130 busy cycles per sample</a:t>
            </a:r>
            <a:endParaRPr lang="en-US" sz="1500" dirty="0"/>
          </a:p>
          <a:p>
            <a:pPr marL="342900" indent="-342900">
              <a:spcAft>
                <a:spcPts val="600"/>
              </a:spcAft>
              <a:buSzPct val="100000"/>
              <a:buChar char="•"/>
            </a:pPr>
            <a:r>
              <a:rPr lang="en-US" sz="1500" dirty="0">
                <a:solidFill>
                  <a:schemeClr val="tx1"/>
                </a:solidFill>
              </a:rPr>
              <a:t>Divider runs one iteration per bit</a:t>
            </a:r>
            <a:endParaRPr lang="en-US" sz="1500" dirty="0"/>
          </a:p>
        </p:txBody>
      </p:sp>
      <p:sp>
        <p:nvSpPr>
          <p:cNvPr id="17" name="Card NLMS-Shift"/>
          <p:cNvSpPr/>
          <p:nvPr/>
        </p:nvSpPr>
        <p:spPr>
          <a:xfrm>
            <a:off x="8138160" y="2331720"/>
            <a:ext cx="3520440" cy="3063240"/>
          </a:xfrm>
          <a:prstGeom prst="roundRect">
            <a:avLst>
              <a:gd name="adj" fmla="val 2388"/>
            </a:avLst>
          </a:prstGeom>
          <a:solidFill>
            <a:schemeClr val="bg2"/>
          </a:solidFill>
          <a:ln w="12700">
            <a:solidFill>
              <a:schemeClr val="bg2"/>
            </a:solidFill>
            <a:prstDash val="solid"/>
          </a:ln>
        </p:spPr>
      </p:sp>
      <p:sp>
        <p:nvSpPr>
          <p:cNvPr id="18" name="NLMS-Shift header"/>
          <p:cNvSpPr/>
          <p:nvPr/>
        </p:nvSpPr>
        <p:spPr>
          <a:xfrm>
            <a:off x="8138160" y="2331720"/>
            <a:ext cx="3520440" cy="594360"/>
          </a:xfrm>
          <a:prstGeom prst="roundRect">
            <a:avLst>
              <a:gd name="adj" fmla="val 12308"/>
            </a:avLst>
          </a:prstGeom>
          <a:solidFill>
            <a:schemeClr val="accent5"/>
          </a:solidFill>
          <a:ln w="12700">
            <a:solidFill>
              <a:schemeClr val="accent5"/>
            </a:solidFill>
            <a:prstDash val="solid"/>
          </a:ln>
        </p:spPr>
      </p:sp>
      <p:sp>
        <p:nvSpPr>
          <p:cNvPr id="19" name="Text 17"/>
          <p:cNvSpPr txBox="1"/>
          <p:nvPr/>
        </p:nvSpPr>
        <p:spPr>
          <a:xfrm>
            <a:off x="8366760" y="2331720"/>
            <a:ext cx="3108960" cy="594360"/>
          </a:xfrm>
          <a:prstGeom prst="rect">
            <a:avLst/>
          </a:prstGeom>
          <a:noFill/>
          <a:ln/>
        </p:spPr>
        <p:txBody>
          <a:bodyPr wrap="square" lIns="0" tIns="0" rIns="0" bIns="0" rtlCol="0" anchor="ctr"/>
          <a:lstStyle/>
          <a:p>
            <a:pPr indent="0" marL="0">
              <a:buNone/>
            </a:pPr>
            <a:r>
              <a:rPr lang="en-US" sz="2000" b="1" dirty="0">
                <a:solidFill>
                  <a:schemeClr val="bg1"/>
                </a:solidFill>
              </a:rPr>
              <a:t>NLMS-Shift</a:t>
            </a:r>
            <a:endParaRPr lang="en-US" sz="2000" dirty="0"/>
          </a:p>
        </p:txBody>
      </p:sp>
      <p:sp>
        <p:nvSpPr>
          <p:cNvPr id="20" name="Text 18"/>
          <p:cNvSpPr txBox="1"/>
          <p:nvPr/>
        </p:nvSpPr>
        <p:spPr>
          <a:xfrm>
            <a:off x="8366760" y="3063240"/>
            <a:ext cx="3108960" cy="45720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μ[n] = 2^−(⌊log₂(P+ε)⌋ + 1 + K)</a:t>
            </a:r>
            <a:endParaRPr lang="en-US" sz="1700" dirty="0"/>
          </a:p>
        </p:txBody>
      </p:sp>
      <p:sp>
        <p:nvSpPr>
          <p:cNvPr id="21" name="Text 19"/>
          <p:cNvSpPr txBox="1"/>
          <p:nvPr/>
        </p:nvSpPr>
        <p:spPr>
          <a:xfrm>
            <a:off x="8366760" y="3520440"/>
            <a:ext cx="3108960" cy="365760"/>
          </a:xfrm>
          <a:prstGeom prst="rect">
            <a:avLst/>
          </a:prstGeom>
          <a:noFill/>
          <a:ln/>
        </p:spPr>
        <p:txBody>
          <a:bodyPr wrap="square" lIns="0" tIns="0" rIns="0" bIns="0" rtlCol="0" anchor="t"/>
          <a:lstStyle/>
          <a:p>
            <a:pPr indent="0" marL="0">
              <a:buNone/>
            </a:pPr>
            <a:r>
              <a:rPr lang="en-US" sz="1300" i="1" dirty="0">
                <a:solidFill>
                  <a:schemeClr val="accent6"/>
                </a:solidFill>
              </a:rPr>
              <a:t>Leading-one detector + barrel shift</a:t>
            </a:r>
            <a:endParaRPr lang="en-US" sz="1300" dirty="0"/>
          </a:p>
        </p:txBody>
      </p:sp>
      <p:sp>
        <p:nvSpPr>
          <p:cNvPr id="22" name="Text 20"/>
          <p:cNvSpPr txBox="1"/>
          <p:nvPr/>
        </p:nvSpPr>
        <p:spPr>
          <a:xfrm>
            <a:off x="8366760" y="3977640"/>
            <a:ext cx="315468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Keeps NLMS's level-independence</a:t>
            </a:r>
            <a:endParaRPr lang="en-US" sz="1500" dirty="0"/>
          </a:p>
          <a:p>
            <a:pPr marL="342900" indent="-342900">
              <a:spcAft>
                <a:spcPts val="600"/>
              </a:spcAft>
              <a:buSzPct val="100000"/>
              <a:buChar char="•"/>
            </a:pPr>
            <a:r>
              <a:rPr lang="en-US" sz="1500" dirty="0">
                <a:solidFill>
                  <a:schemeClr val="tx1"/>
                </a:solidFill>
              </a:rPr>
              <a:t>72 busy cycles per sample</a:t>
            </a:r>
            <a:endParaRPr lang="en-US" sz="1500" dirty="0"/>
          </a:p>
          <a:p>
            <a:pPr marL="342900" indent="-342900">
              <a:spcAft>
                <a:spcPts val="600"/>
              </a:spcAft>
              <a:buSzPct val="100000"/>
              <a:buChar char="•"/>
            </a:pPr>
            <a:r>
              <a:rPr lang="en-US" sz="1500" dirty="0">
                <a:solidFill>
                  <a:schemeClr val="tx1"/>
                </a:solidFill>
              </a:rPr>
              <a:t>Step within ×0.5 to ×1 of NLMS</a:t>
            </a:r>
            <a:endParaRPr lang="en-US" sz="1500" dirty="0"/>
          </a:p>
        </p:txBody>
      </p:sp>
      <p:sp>
        <p:nvSpPr>
          <p:cNvPr id="23" name="Text 21"/>
          <p:cNvSpPr txBox="1"/>
          <p:nvPr/>
        </p:nvSpPr>
        <p:spPr>
          <a:xfrm>
            <a:off x="548640" y="5806440"/>
            <a:ext cx="11064240" cy="502920"/>
          </a:xfrm>
          <a:prstGeom prst="rect">
            <a:avLst/>
          </a:prstGeom>
          <a:noFill/>
          <a:ln/>
        </p:spPr>
        <p:txBody>
          <a:bodyPr wrap="square" lIns="0" tIns="0" rIns="0" bIns="0" rtlCol="0" anchor="t"/>
          <a:lstStyle/>
          <a:p>
            <a:pPr indent="0" marL="0">
              <a:buNone/>
            </a:pPr>
            <a:r>
              <a:rPr lang="en-US" sz="1300" b="1" dirty="0">
                <a:solidFill>
                  <a:schemeClr val="accent6"/>
                </a:solidFill>
              </a:rPr>
              <a:t>Not claimed as new: </a:t>
            </a:r>
            <a:pPr indent="0" marL="0">
              <a:buNone/>
            </a:pPr>
            <a:r>
              <a:rPr lang="en-US" sz="1300" dirty="0">
                <a:solidFill>
                  <a:schemeClr val="accent6"/>
                </a:solidFill>
              </a:rPr>
              <a:t>power-of-two normalisation of NLMS was used by Garrett et al. (ISLPED 2002). Our contribution is the fair comparison, the bit-exact chain to hardware and the analysis.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 complete audio system on the DE2-115, no processor</a:t>
            </a:r>
            <a:endParaRPr lang="en-US" sz="3200" dirty="0"/>
          </a:p>
        </p:txBody>
      </p:sp>
      <p:sp>
        <p:nvSpPr>
          <p:cNvPr id="3" name="FPGA boundary"/>
          <p:cNvSpPr/>
          <p:nvPr/>
        </p:nvSpPr>
        <p:spPr>
          <a:xfrm>
            <a:off x="2606040" y="1325880"/>
            <a:ext cx="5166360" cy="4846320"/>
          </a:xfrm>
          <a:prstGeom prst="roundRect">
            <a:avLst>
              <a:gd name="adj" fmla="val 1887"/>
            </a:avLst>
          </a:prstGeom>
          <a:solidFill>
            <a:srgbClr val="EDF3F4"/>
          </a:solidFill>
          <a:ln w="15875">
            <a:solidFill>
              <a:srgbClr val="0E7C86"/>
            </a:solidFill>
            <a:prstDash val="dash"/>
          </a:ln>
        </p:spPr>
      </p:sp>
      <p:sp>
        <p:nvSpPr>
          <p:cNvPr id="4" name="Text 2"/>
          <p:cNvSpPr txBox="1"/>
          <p:nvPr/>
        </p:nvSpPr>
        <p:spPr>
          <a:xfrm>
            <a:off x="2788920" y="1417320"/>
            <a:ext cx="3657600" cy="274320"/>
          </a:xfrm>
          <a:prstGeom prst="rect">
            <a:avLst/>
          </a:prstGeom>
          <a:noFill/>
          <a:ln/>
        </p:spPr>
        <p:txBody>
          <a:bodyPr wrap="square" lIns="0" tIns="0" rIns="0" bIns="0" rtlCol="0" anchor="t"/>
          <a:lstStyle/>
          <a:p>
            <a:pPr indent="0" marL="0">
              <a:buNone/>
            </a:pPr>
            <a:r>
              <a:rPr lang="en-US" sz="1200" b="1" dirty="0">
                <a:solidFill>
                  <a:schemeClr val="accent1"/>
                </a:solidFill>
              </a:rPr>
              <a:t>Cyclone IV E  ·  50 MHz</a:t>
            </a:r>
            <a:endParaRPr lang="en-US" sz="1200" dirty="0"/>
          </a:p>
        </p:txBody>
      </p:sp>
      <p:sp>
        <p:nvSpPr>
          <p:cNvPr id="5" name="Codec"/>
          <p:cNvSpPr/>
          <p:nvPr/>
        </p:nvSpPr>
        <p:spPr>
          <a:xfrm>
            <a:off x="548640" y="1828800"/>
            <a:ext cx="1645920" cy="2606040"/>
          </a:xfrm>
          <a:prstGeom prst="roundRect">
            <a:avLst>
              <a:gd name="adj" fmla="val 3333"/>
            </a:avLst>
          </a:prstGeom>
          <a:solidFill>
            <a:schemeClr val="tx2"/>
          </a:solidFill>
          <a:ln w="12700">
            <a:solidFill>
              <a:schemeClr val="tx2"/>
            </a:solidFill>
            <a:prstDash val="solid"/>
          </a:ln>
        </p:spPr>
      </p:sp>
      <p:sp>
        <p:nvSpPr>
          <p:cNvPr id="6" name="Text 4"/>
          <p:cNvSpPr txBox="1"/>
          <p:nvPr/>
        </p:nvSpPr>
        <p:spPr>
          <a:xfrm>
            <a:off x="548640" y="1828800"/>
            <a:ext cx="1645920" cy="2606040"/>
          </a:xfrm>
          <a:prstGeom prst="rect">
            <a:avLst/>
          </a:prstGeom>
          <a:noFill/>
          <a:ln/>
        </p:spPr>
        <p:txBody>
          <a:bodyPr wrap="square" lIns="635" tIns="635" rIns="635" bIns="635" rtlCol="0" anchor="ctr"/>
          <a:lstStyle/>
          <a:p>
            <a:pPr algn="ctr" indent="0" marL="0">
              <a:buNone/>
            </a:pPr>
            <a:r>
              <a:rPr lang="en-US" sz="1400" b="1" dirty="0">
                <a:solidFill>
                  <a:schemeClr val="bg1"/>
                </a:solidFill>
              </a:rPr>
              <a:t>WM8731</a:t>
            </a:r>
            <a:endParaRPr lang="en-US" sz="1400" dirty="0"/>
          </a:p>
          <a:p>
            <a:pPr algn="ctr" indent="0" marL="0">
              <a:buNone/>
            </a:pPr>
            <a:r>
              <a:rPr lang="en-US" sz="1400" dirty="0">
                <a:solidFill>
                  <a:schemeClr val="bg1"/>
                </a:solidFill>
              </a:rPr>
              <a:t>audio codec</a:t>
            </a:r>
            <a:endParaRPr lang="en-US" sz="1400" dirty="0"/>
          </a:p>
        </p:txBody>
      </p:sp>
      <p:sp>
        <p:nvSpPr>
          <p:cNvPr id="7" name="Text 5"/>
          <p:cNvSpPr txBox="1"/>
          <p:nvPr/>
        </p:nvSpPr>
        <p:spPr>
          <a:xfrm>
            <a:off x="457200" y="4526280"/>
            <a:ext cx="1828800" cy="548640"/>
          </a:xfrm>
          <a:prstGeom prst="rect">
            <a:avLst/>
          </a:prstGeom>
          <a:noFill/>
          <a:ln/>
        </p:spPr>
        <p:txBody>
          <a:bodyPr wrap="square" lIns="0" tIns="0" rIns="0" bIns="0" rtlCol="0" anchor="t"/>
          <a:lstStyle/>
          <a:p>
            <a:pPr algn="ctr" indent="0" marL="0">
              <a:buNone/>
            </a:pPr>
            <a:r>
              <a:rPr lang="en-US" sz="1200" dirty="0">
                <a:solidFill>
                  <a:schemeClr val="accent6"/>
                </a:solidFill>
              </a:rPr>
              <a:t>LINE IN: x, d</a:t>
            </a:r>
            <a:endParaRPr lang="en-US" sz="1200" dirty="0"/>
          </a:p>
          <a:p>
            <a:pPr algn="ctr" indent="0" marL="0">
              <a:buNone/>
            </a:pPr>
            <a:r>
              <a:rPr lang="en-US" sz="1200" dirty="0">
                <a:solidFill>
                  <a:schemeClr val="accent6"/>
                </a:solidFill>
              </a:rPr>
              <a:t>LINE OUT: e</a:t>
            </a:r>
            <a:endParaRPr lang="en-US" sz="1200" dirty="0"/>
          </a:p>
        </p:txBody>
      </p:sp>
      <p:sp>
        <p:nvSpPr>
          <p:cNvPr id="8" name="I2C"/>
          <p:cNvSpPr/>
          <p:nvPr/>
        </p:nvSpPr>
        <p:spPr>
          <a:xfrm>
            <a:off x="2834640" y="1828800"/>
            <a:ext cx="2103120" cy="777240"/>
          </a:xfrm>
          <a:prstGeom prst="roundRect">
            <a:avLst>
              <a:gd name="adj" fmla="val 7059"/>
            </a:avLst>
          </a:prstGeom>
          <a:solidFill>
            <a:schemeClr val="accent6"/>
          </a:solidFill>
          <a:ln w="12700">
            <a:solidFill>
              <a:schemeClr val="accent6"/>
            </a:solidFill>
            <a:prstDash val="solid"/>
          </a:ln>
        </p:spPr>
      </p:sp>
      <p:sp>
        <p:nvSpPr>
          <p:cNvPr id="9" name="Text 7"/>
          <p:cNvSpPr txBox="1"/>
          <p:nvPr/>
        </p:nvSpPr>
        <p:spPr>
          <a:xfrm>
            <a:off x="2834640" y="1828800"/>
            <a:ext cx="2103120" cy="777240"/>
          </a:xfrm>
          <a:prstGeom prst="rect">
            <a:avLst/>
          </a:prstGeom>
          <a:noFill/>
          <a:ln/>
        </p:spPr>
        <p:txBody>
          <a:bodyPr wrap="square" lIns="635" tIns="635" rIns="635" bIns="635" rtlCol="0" anchor="ctr"/>
          <a:lstStyle/>
          <a:p>
            <a:pPr algn="ctr" indent="0" marL="0">
              <a:buNone/>
            </a:pPr>
            <a:r>
              <a:rPr lang="en-US" sz="1300" dirty="0">
                <a:solidFill>
                  <a:schemeClr val="bg1"/>
                </a:solidFill>
              </a:rPr>
              <a:t>I²C config</a:t>
            </a:r>
            <a:endParaRPr lang="en-US" sz="1300" dirty="0"/>
          </a:p>
          <a:p>
            <a:pPr algn="ctr" indent="0" marL="0">
              <a:buNone/>
            </a:pPr>
            <a:r>
              <a:rPr lang="en-US" sz="1300" dirty="0">
                <a:solidFill>
                  <a:schemeClr val="bg1"/>
                </a:solidFill>
              </a:rPr>
              <a:t>(11 registers, ACK-checked)</a:t>
            </a:r>
            <a:endParaRPr lang="en-US" sz="1300" dirty="0"/>
          </a:p>
        </p:txBody>
      </p:sp>
      <p:sp>
        <p:nvSpPr>
          <p:cNvPr id="10" name="I2S RX"/>
          <p:cNvSpPr/>
          <p:nvPr/>
        </p:nvSpPr>
        <p:spPr>
          <a:xfrm>
            <a:off x="2834640" y="2880360"/>
            <a:ext cx="2103120" cy="548640"/>
          </a:xfrm>
          <a:prstGeom prst="roundRect">
            <a:avLst>
              <a:gd name="adj" fmla="val 10000"/>
            </a:avLst>
          </a:prstGeom>
          <a:solidFill>
            <a:schemeClr val="accent1"/>
          </a:solidFill>
          <a:ln w="12700">
            <a:solidFill>
              <a:schemeClr val="accent1"/>
            </a:solidFill>
            <a:prstDash val="solid"/>
          </a:ln>
        </p:spPr>
      </p:sp>
      <p:sp>
        <p:nvSpPr>
          <p:cNvPr id="11" name="Text 9"/>
          <p:cNvSpPr txBox="1"/>
          <p:nvPr/>
        </p:nvSpPr>
        <p:spPr>
          <a:xfrm>
            <a:off x="2834640" y="2880360"/>
            <a:ext cx="2103120" cy="548640"/>
          </a:xfrm>
          <a:prstGeom prst="rect">
            <a:avLst/>
          </a:prstGeom>
          <a:noFill/>
          <a:ln/>
        </p:spPr>
        <p:txBody>
          <a:bodyPr wrap="square" lIns="635" tIns="635" rIns="635" bIns="635" rtlCol="0" anchor="ctr"/>
          <a:lstStyle/>
          <a:p>
            <a:pPr algn="ctr" indent="0" marL="0">
              <a:buNone/>
            </a:pPr>
            <a:r>
              <a:rPr lang="en-US" sz="1400" dirty="0">
                <a:solidFill>
                  <a:schemeClr val="bg1"/>
                </a:solidFill>
              </a:rPr>
              <a:t>I²S receiver</a:t>
            </a:r>
            <a:endParaRPr lang="en-US" sz="1400" dirty="0"/>
          </a:p>
        </p:txBody>
      </p:sp>
      <p:sp>
        <p:nvSpPr>
          <p:cNvPr id="12" name="I2S TX"/>
          <p:cNvSpPr/>
          <p:nvPr/>
        </p:nvSpPr>
        <p:spPr>
          <a:xfrm>
            <a:off x="2834640" y="3703320"/>
            <a:ext cx="2103120" cy="731520"/>
          </a:xfrm>
          <a:prstGeom prst="roundRect">
            <a:avLst>
              <a:gd name="adj" fmla="val 7500"/>
            </a:avLst>
          </a:prstGeom>
          <a:solidFill>
            <a:schemeClr val="accent1"/>
          </a:solidFill>
          <a:ln w="12700">
            <a:solidFill>
              <a:schemeClr val="accent1"/>
            </a:solidFill>
            <a:prstDash val="solid"/>
          </a:ln>
        </p:spPr>
      </p:sp>
      <p:sp>
        <p:nvSpPr>
          <p:cNvPr id="13" name="Text 11"/>
          <p:cNvSpPr txBox="1"/>
          <p:nvPr/>
        </p:nvSpPr>
        <p:spPr>
          <a:xfrm>
            <a:off x="2834640" y="3703320"/>
            <a:ext cx="2103120" cy="731520"/>
          </a:xfrm>
          <a:prstGeom prst="rect">
            <a:avLst/>
          </a:prstGeom>
          <a:noFill/>
          <a:ln/>
        </p:spPr>
        <p:txBody>
          <a:bodyPr wrap="square" lIns="635" tIns="635" rIns="635" bIns="635" rtlCol="0" anchor="ctr"/>
          <a:lstStyle/>
          <a:p>
            <a:pPr algn="ctr" indent="0" marL="0">
              <a:buNone/>
            </a:pPr>
            <a:r>
              <a:rPr lang="en-US" sz="1300" dirty="0">
                <a:solidFill>
                  <a:schemeClr val="bg1"/>
                </a:solidFill>
              </a:rPr>
              <a:t>I²S transmitter</a:t>
            </a:r>
            <a:endParaRPr lang="en-US" sz="1300" dirty="0"/>
          </a:p>
          <a:p>
            <a:pPr algn="ctr" indent="0" marL="0">
              <a:buNone/>
            </a:pPr>
            <a:r>
              <a:rPr lang="en-US" sz="1300" dirty="0">
                <a:solidFill>
                  <a:schemeClr val="bg1"/>
                </a:solidFill>
              </a:rPr>
              <a:t>+ bypass mux</a:t>
            </a:r>
            <a:endParaRPr lang="en-US" sz="1300" dirty="0"/>
          </a:p>
        </p:txBody>
      </p:sp>
      <p:sp>
        <p:nvSpPr>
          <p:cNvPr id="14" name="Sync"/>
          <p:cNvSpPr/>
          <p:nvPr/>
        </p:nvSpPr>
        <p:spPr>
          <a:xfrm>
            <a:off x="2834640" y="4754880"/>
            <a:ext cx="2103120" cy="731520"/>
          </a:xfrm>
          <a:prstGeom prst="roundRect">
            <a:avLst>
              <a:gd name="adj" fmla="val 7500"/>
            </a:avLst>
          </a:prstGeom>
          <a:solidFill>
            <a:schemeClr val="accent6"/>
          </a:solidFill>
          <a:ln w="12700">
            <a:solidFill>
              <a:schemeClr val="accent6"/>
            </a:solidFill>
            <a:prstDash val="solid"/>
          </a:ln>
        </p:spPr>
      </p:sp>
      <p:sp>
        <p:nvSpPr>
          <p:cNvPr id="15" name="Text 13"/>
          <p:cNvSpPr txBox="1"/>
          <p:nvPr/>
        </p:nvSpPr>
        <p:spPr>
          <a:xfrm>
            <a:off x="2834640" y="4754880"/>
            <a:ext cx="2103120" cy="731520"/>
          </a:xfrm>
          <a:prstGeom prst="rect">
            <a:avLst/>
          </a:prstGeom>
          <a:noFill/>
          <a:ln/>
        </p:spPr>
        <p:txBody>
          <a:bodyPr wrap="square" lIns="635" tIns="635" rIns="635" bIns="635" rtlCol="0" anchor="ctr"/>
          <a:lstStyle/>
          <a:p>
            <a:pPr algn="ctr" indent="0" marL="0">
              <a:buNone/>
            </a:pPr>
            <a:r>
              <a:rPr lang="en-US" sz="1300" dirty="0">
                <a:solidFill>
                  <a:schemeClr val="bg1"/>
                </a:solidFill>
              </a:rPr>
              <a:t>Switches &amp; reset</a:t>
            </a:r>
            <a:endParaRPr lang="en-US" sz="1300" dirty="0"/>
          </a:p>
          <a:p>
            <a:pPr algn="ctr" indent="0" marL="0">
              <a:buNone/>
            </a:pPr>
            <a:r>
              <a:rPr lang="en-US" sz="1300" dirty="0">
                <a:solidFill>
                  <a:schemeClr val="bg1"/>
                </a:solidFill>
              </a:rPr>
              <a:t>2-flop synchronisers</a:t>
            </a:r>
            <a:endParaRPr lang="en-US" sz="1300" dirty="0"/>
          </a:p>
        </p:txBody>
      </p:sp>
      <p:sp>
        <p:nvSpPr>
          <p:cNvPr id="16" name="Core"/>
          <p:cNvSpPr/>
          <p:nvPr/>
        </p:nvSpPr>
        <p:spPr>
          <a:xfrm>
            <a:off x="5303520" y="2377440"/>
            <a:ext cx="2240280" cy="2194560"/>
          </a:xfrm>
          <a:prstGeom prst="roundRect">
            <a:avLst>
              <a:gd name="adj" fmla="val 2500"/>
            </a:avLst>
          </a:prstGeom>
          <a:solidFill>
            <a:schemeClr val="accent2"/>
          </a:solidFill>
          <a:ln w="12700">
            <a:solidFill>
              <a:schemeClr val="accent2"/>
            </a:solidFill>
            <a:prstDash val="solid"/>
          </a:ln>
        </p:spPr>
      </p:sp>
      <p:sp>
        <p:nvSpPr>
          <p:cNvPr id="17" name="Text 15"/>
          <p:cNvSpPr txBox="1"/>
          <p:nvPr/>
        </p:nvSpPr>
        <p:spPr>
          <a:xfrm>
            <a:off x="5303520" y="2377440"/>
            <a:ext cx="2240280" cy="2194560"/>
          </a:xfrm>
          <a:prstGeom prst="rect">
            <a:avLst/>
          </a:prstGeom>
          <a:noFill/>
          <a:ln/>
        </p:spPr>
        <p:txBody>
          <a:bodyPr wrap="square" lIns="635" tIns="635" rIns="635" bIns="635" rtlCol="0" anchor="ctr"/>
          <a:lstStyle/>
          <a:p>
            <a:pPr algn="ctr" indent="0" marL="0">
              <a:buNone/>
            </a:pPr>
            <a:r>
              <a:rPr lang="en-US" sz="1400" b="1" dirty="0">
                <a:solidFill>
                  <a:schemeClr val="tx1"/>
                </a:solidFill>
              </a:rPr>
              <a:t>anc_core</a:t>
            </a:r>
            <a:endParaRPr lang="en-US" sz="1400" dirty="0"/>
          </a:p>
          <a:p>
            <a:pPr algn="ctr" indent="0" marL="0">
              <a:buNone/>
            </a:pPr>
            <a:r>
              <a:rPr lang="en-US" sz="1400" dirty="0">
                <a:solidFill>
                  <a:schemeClr val="tx1"/>
                </a:solidFill>
              </a:rPr>
              <a:t>1 multiplier, 3-stage pipe</a:t>
            </a:r>
            <a:endParaRPr lang="en-US" sz="1400" dirty="0"/>
          </a:p>
          <a:p>
            <a:pPr algn="ctr" indent="0" marL="0">
              <a:buNone/>
            </a:pPr>
            <a:r>
              <a:rPr lang="en-US" sz="1400" dirty="0">
                <a:solidFill>
                  <a:schemeClr val="tx1"/>
                </a:solidFill>
              </a:rPr>
              <a:t>32 weights × 12 bit</a:t>
            </a:r>
            <a:endParaRPr lang="en-US" sz="1400" dirty="0"/>
          </a:p>
          <a:p>
            <a:pPr algn="ctr" indent="0" marL="0">
              <a:buNone/>
            </a:pPr>
            <a:r>
              <a:rPr lang="en-US" sz="1400" dirty="0">
                <a:solidFill>
                  <a:schemeClr val="tx1"/>
                </a:solidFill>
              </a:rPr>
              <a:t>divider  |  LOD + shift</a:t>
            </a:r>
            <a:endParaRPr lang="en-US" sz="1400" dirty="0"/>
          </a:p>
        </p:txBody>
      </p:sp>
      <p:sp>
        <p:nvSpPr>
          <p:cNvPr id="18" name="Debug"/>
          <p:cNvSpPr/>
          <p:nvPr/>
        </p:nvSpPr>
        <p:spPr>
          <a:xfrm>
            <a:off x="5303520" y="4754880"/>
            <a:ext cx="2240280" cy="731520"/>
          </a:xfrm>
          <a:prstGeom prst="roundRect">
            <a:avLst>
              <a:gd name="adj" fmla="val 7500"/>
            </a:avLst>
          </a:prstGeom>
          <a:solidFill>
            <a:schemeClr val="accent6"/>
          </a:solidFill>
          <a:ln w="12700">
            <a:solidFill>
              <a:schemeClr val="accent6"/>
            </a:solidFill>
            <a:prstDash val="solid"/>
          </a:ln>
        </p:spPr>
      </p:sp>
      <p:sp>
        <p:nvSpPr>
          <p:cNvPr id="19" name="Text 17"/>
          <p:cNvSpPr txBox="1"/>
          <p:nvPr/>
        </p:nvSpPr>
        <p:spPr>
          <a:xfrm>
            <a:off x="5303520" y="4754880"/>
            <a:ext cx="2240280" cy="731520"/>
          </a:xfrm>
          <a:prstGeom prst="rect">
            <a:avLst/>
          </a:prstGeom>
          <a:noFill/>
          <a:ln/>
        </p:spPr>
        <p:txBody>
          <a:bodyPr wrap="square" lIns="635" tIns="635" rIns="635" bIns="635" rtlCol="0" anchor="ctr"/>
          <a:lstStyle/>
          <a:p>
            <a:pPr algn="ctr" indent="0" marL="0">
              <a:buNone/>
            </a:pPr>
            <a:r>
              <a:rPr lang="en-US" sz="1300" dirty="0">
                <a:solidFill>
                  <a:schemeClr val="bg1"/>
                </a:solidFill>
              </a:rPr>
              <a:t>GPIO test points</a:t>
            </a:r>
            <a:endParaRPr lang="en-US" sz="1300" dirty="0"/>
          </a:p>
          <a:p>
            <a:pPr algn="ctr" indent="0" marL="0">
              <a:buNone/>
            </a:pPr>
            <a:r>
              <a:rPr lang="en-US" sz="1300" dirty="0">
                <a:solidFill>
                  <a:schemeClr val="bg1"/>
                </a:solidFill>
              </a:rPr>
              <a:t>+ Signal Tap</a:t>
            </a:r>
            <a:endParaRPr lang="en-US" sz="1300" dirty="0"/>
          </a:p>
        </p:txBody>
      </p:sp>
      <p:sp>
        <p:nvSpPr>
          <p:cNvPr id="20" name="Shape 18"/>
          <p:cNvSpPr/>
          <p:nvPr/>
        </p:nvSpPr>
        <p:spPr>
          <a:xfrm flipH="1">
            <a:off x="2194560" y="2217420"/>
            <a:ext cx="640080" cy="0"/>
          </a:xfrm>
          <a:prstGeom prst="line">
            <a:avLst/>
          </a:prstGeom>
          <a:noFill/>
          <a:ln w="19050">
            <a:solidFill>
              <a:srgbClr val="0D3B44"/>
            </a:solidFill>
            <a:prstDash val="solid"/>
            <a:tailEnd type="triangle"/>
          </a:ln>
        </p:spPr>
      </p:sp>
      <p:sp>
        <p:nvSpPr>
          <p:cNvPr id="21" name="Shape 19"/>
          <p:cNvSpPr/>
          <p:nvPr/>
        </p:nvSpPr>
        <p:spPr>
          <a:xfrm>
            <a:off x="2194560" y="3154680"/>
            <a:ext cx="640080" cy="0"/>
          </a:xfrm>
          <a:prstGeom prst="line">
            <a:avLst/>
          </a:prstGeom>
          <a:noFill/>
          <a:ln w="19050">
            <a:solidFill>
              <a:srgbClr val="0D3B44"/>
            </a:solidFill>
            <a:prstDash val="solid"/>
            <a:tailEnd type="triangle"/>
          </a:ln>
        </p:spPr>
      </p:sp>
      <p:sp>
        <p:nvSpPr>
          <p:cNvPr id="22" name="Shape 20"/>
          <p:cNvSpPr/>
          <p:nvPr/>
        </p:nvSpPr>
        <p:spPr>
          <a:xfrm flipH="1">
            <a:off x="2194560" y="4069080"/>
            <a:ext cx="640080" cy="0"/>
          </a:xfrm>
          <a:prstGeom prst="line">
            <a:avLst/>
          </a:prstGeom>
          <a:noFill/>
          <a:ln w="19050">
            <a:solidFill>
              <a:srgbClr val="0D3B44"/>
            </a:solidFill>
            <a:prstDash val="solid"/>
            <a:tailEnd type="triangle"/>
          </a:ln>
        </p:spPr>
      </p:sp>
      <p:sp>
        <p:nvSpPr>
          <p:cNvPr id="23" name="Shape 21"/>
          <p:cNvSpPr/>
          <p:nvPr/>
        </p:nvSpPr>
        <p:spPr>
          <a:xfrm>
            <a:off x="4937760" y="3154680"/>
            <a:ext cx="365760" cy="0"/>
          </a:xfrm>
          <a:prstGeom prst="line">
            <a:avLst/>
          </a:prstGeom>
          <a:noFill/>
          <a:ln w="19050">
            <a:solidFill>
              <a:srgbClr val="0D3B44"/>
            </a:solidFill>
            <a:prstDash val="solid"/>
            <a:tailEnd type="triangle"/>
          </a:ln>
        </p:spPr>
      </p:sp>
      <p:sp>
        <p:nvSpPr>
          <p:cNvPr id="24" name="Shape 22"/>
          <p:cNvSpPr/>
          <p:nvPr/>
        </p:nvSpPr>
        <p:spPr>
          <a:xfrm flipH="1">
            <a:off x="4937760" y="4069080"/>
            <a:ext cx="365760" cy="0"/>
          </a:xfrm>
          <a:prstGeom prst="line">
            <a:avLst/>
          </a:prstGeom>
          <a:noFill/>
          <a:ln w="19050">
            <a:solidFill>
              <a:srgbClr val="0D3B44"/>
            </a:solidFill>
            <a:prstDash val="solid"/>
            <a:tailEnd type="triangle"/>
          </a:ln>
        </p:spPr>
      </p:sp>
      <p:sp>
        <p:nvSpPr>
          <p:cNvPr id="25" name="Shape 23"/>
          <p:cNvSpPr/>
          <p:nvPr/>
        </p:nvSpPr>
        <p:spPr>
          <a:xfrm>
            <a:off x="6423660" y="4572000"/>
            <a:ext cx="0" cy="182880"/>
          </a:xfrm>
          <a:prstGeom prst="line">
            <a:avLst/>
          </a:prstGeom>
          <a:noFill/>
          <a:ln w="19050">
            <a:solidFill>
              <a:srgbClr val="0D3B44"/>
            </a:solidFill>
            <a:prstDash val="solid"/>
            <a:tailEnd type="triangle"/>
          </a:ln>
        </p:spPr>
      </p:sp>
      <p:sp>
        <p:nvSpPr>
          <p:cNvPr id="26" name="Text 24"/>
          <p:cNvSpPr txBox="1"/>
          <p:nvPr/>
        </p:nvSpPr>
        <p:spPr>
          <a:xfrm>
            <a:off x="2788920" y="5623560"/>
            <a:ext cx="4846320" cy="274320"/>
          </a:xfrm>
          <a:prstGeom prst="rect">
            <a:avLst/>
          </a:prstGeom>
          <a:noFill/>
          <a:ln/>
        </p:spPr>
        <p:txBody>
          <a:bodyPr wrap="square" lIns="0" tIns="0" rIns="0" bIns="0" rtlCol="0" anchor="t"/>
          <a:lstStyle/>
          <a:p>
            <a:pPr indent="0" marL="0">
              <a:buNone/>
            </a:pPr>
            <a:r>
              <a:rPr lang="en-US" sz="1200" dirty="0">
                <a:solidFill>
                  <a:schemeClr val="accent6"/>
                </a:solidFill>
              </a:rPr>
              <a:t>SW[0] bypass  ·  SW[1] freeze  ·  KEY[0] reset</a:t>
            </a:r>
            <a:endParaRPr lang="en-US" sz="1200" dirty="0"/>
          </a:p>
        </p:txBody>
      </p:sp>
      <p:sp>
        <p:nvSpPr>
          <p:cNvPr id="27" name="Text 25"/>
          <p:cNvSpPr txBox="1"/>
          <p:nvPr/>
        </p:nvSpPr>
        <p:spPr>
          <a:xfrm>
            <a:off x="8183880" y="1371600"/>
            <a:ext cx="347472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8.138 kHz</a:t>
            </a:r>
            <a:endParaRPr lang="en-US" sz="3000" dirty="0"/>
          </a:p>
        </p:txBody>
      </p:sp>
      <p:sp>
        <p:nvSpPr>
          <p:cNvPr id="28" name="Text 26"/>
          <p:cNvSpPr txBox="1"/>
          <p:nvPr/>
        </p:nvSpPr>
        <p:spPr>
          <a:xfrm>
            <a:off x="8183880" y="1920240"/>
            <a:ext cx="3474720" cy="548640"/>
          </a:xfrm>
          <a:prstGeom prst="rect">
            <a:avLst/>
          </a:prstGeom>
          <a:noFill/>
          <a:ln/>
        </p:spPr>
        <p:txBody>
          <a:bodyPr wrap="square" lIns="0" tIns="0" rIns="0" bIns="0" rtlCol="0" anchor="t"/>
          <a:lstStyle/>
          <a:p>
            <a:pPr indent="0" marL="0">
              <a:buNone/>
            </a:pPr>
            <a:r>
              <a:rPr lang="en-US" sz="1400" dirty="0">
                <a:solidFill>
                  <a:schemeClr val="tx1"/>
                </a:solidFill>
              </a:rPr>
              <a:t>codec master, 12.5 MHz clock, 1536 fs</a:t>
            </a:r>
            <a:endParaRPr lang="en-US" sz="1400" dirty="0"/>
          </a:p>
        </p:txBody>
      </p:sp>
      <p:sp>
        <p:nvSpPr>
          <p:cNvPr id="29" name="Text 27"/>
          <p:cNvSpPr txBox="1"/>
          <p:nvPr/>
        </p:nvSpPr>
        <p:spPr>
          <a:xfrm>
            <a:off x="8183880" y="2578608"/>
            <a:ext cx="347472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37 cycles</a:t>
            </a:r>
            <a:endParaRPr lang="en-US" sz="3000" dirty="0"/>
          </a:p>
        </p:txBody>
      </p:sp>
      <p:sp>
        <p:nvSpPr>
          <p:cNvPr id="30" name="Text 28"/>
          <p:cNvSpPr txBox="1"/>
          <p:nvPr/>
        </p:nvSpPr>
        <p:spPr>
          <a:xfrm>
            <a:off x="8183880" y="3127248"/>
            <a:ext cx="3474720" cy="548640"/>
          </a:xfrm>
          <a:prstGeom prst="rect">
            <a:avLst/>
          </a:prstGeom>
          <a:noFill/>
          <a:ln/>
        </p:spPr>
        <p:txBody>
          <a:bodyPr wrap="square" lIns="0" tIns="0" rIns="0" bIns="0" rtlCol="0" anchor="t"/>
          <a:lstStyle/>
          <a:p>
            <a:pPr indent="0" marL="0">
              <a:buNone/>
            </a:pPr>
            <a:r>
              <a:rPr lang="en-US" sz="1400" dirty="0">
                <a:solidFill>
                  <a:schemeClr val="tx1"/>
                </a:solidFill>
              </a:rPr>
              <a:t>input-to-output latency (0.74 µs); 35 for LMS</a:t>
            </a:r>
            <a:endParaRPr lang="en-US" sz="1400" dirty="0"/>
          </a:p>
        </p:txBody>
      </p:sp>
      <p:sp>
        <p:nvSpPr>
          <p:cNvPr id="31" name="Text 29"/>
          <p:cNvSpPr txBox="1"/>
          <p:nvPr/>
        </p:nvSpPr>
        <p:spPr>
          <a:xfrm>
            <a:off x="8183880" y="3785616"/>
            <a:ext cx="347472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72 / 6,144</a:t>
            </a:r>
            <a:endParaRPr lang="en-US" sz="3000" dirty="0"/>
          </a:p>
        </p:txBody>
      </p:sp>
      <p:sp>
        <p:nvSpPr>
          <p:cNvPr id="32" name="Text 30"/>
          <p:cNvSpPr txBox="1"/>
          <p:nvPr/>
        </p:nvSpPr>
        <p:spPr>
          <a:xfrm>
            <a:off x="8183880" y="4334256"/>
            <a:ext cx="3474720" cy="548640"/>
          </a:xfrm>
          <a:prstGeom prst="rect">
            <a:avLst/>
          </a:prstGeom>
          <a:noFill/>
          <a:ln/>
        </p:spPr>
        <p:txBody>
          <a:bodyPr wrap="square" lIns="0" tIns="0" rIns="0" bIns="0" rtlCol="0" anchor="t"/>
          <a:lstStyle/>
          <a:p>
            <a:pPr indent="0" marL="0">
              <a:buNone/>
            </a:pPr>
            <a:r>
              <a:rPr lang="en-US" sz="1400" dirty="0">
                <a:solidFill>
                  <a:schemeClr val="tx1"/>
                </a:solidFill>
              </a:rPr>
              <a:t>busy cycles per sample period for NLMS-Shift: about 1% of the time</a:t>
            </a:r>
            <a:endParaRPr lang="en-US" sz="1400" dirty="0"/>
          </a:p>
        </p:txBody>
      </p:sp>
      <p:sp>
        <p:nvSpPr>
          <p:cNvPr id="33" name="Text 31"/>
          <p:cNvSpPr txBox="1"/>
          <p:nvPr/>
        </p:nvSpPr>
        <p:spPr>
          <a:xfrm>
            <a:off x="8183880" y="4992624"/>
            <a:ext cx="347472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34" name="Text 32"/>
          <p:cNvSpPr txBox="1"/>
          <p:nvPr/>
        </p:nvSpPr>
        <p:spPr>
          <a:xfrm>
            <a:off x="8183880" y="5541264"/>
            <a:ext cx="3474720" cy="548640"/>
          </a:xfrm>
          <a:prstGeom prst="rect">
            <a:avLst/>
          </a:prstGeom>
          <a:noFill/>
          <a:ln/>
        </p:spPr>
        <p:txBody>
          <a:bodyPr wrap="square" lIns="0" tIns="0" rIns="0" bIns="0" rtlCol="0" anchor="t"/>
          <a:lstStyle/>
          <a:p>
            <a:pPr indent="0" marL="0">
              <a:buNone/>
            </a:pPr>
            <a:r>
              <a:rPr lang="en-US" sz="1400" dirty="0">
                <a:solidFill>
                  <a:schemeClr val="tx1"/>
                </a:solidFill>
              </a:rPr>
              <a:t>processors or vendor IP blocks: plain Verilog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chain of evidence: model, RTL, silicon</a:t>
            </a:r>
            <a:endParaRPr lang="en-US" sz="3200" dirty="0"/>
          </a:p>
        </p:txBody>
      </p:sp>
      <p:sp>
        <p:nvSpPr>
          <p:cNvPr id="3" name="Chain Float model"/>
          <p:cNvSpPr/>
          <p:nvPr/>
        </p:nvSpPr>
        <p:spPr>
          <a:xfrm>
            <a:off x="548640" y="1371600"/>
            <a:ext cx="2468880" cy="1234440"/>
          </a:xfrm>
          <a:prstGeom prst="roundRect">
            <a:avLst>
              <a:gd name="adj" fmla="val 5926"/>
            </a:avLst>
          </a:prstGeom>
          <a:solidFill>
            <a:schemeClr val="accent1"/>
          </a:solidFill>
          <a:ln w="12700">
            <a:solidFill>
              <a:schemeClr val="accent1"/>
            </a:solidFill>
            <a:prstDash val="solid"/>
          </a:ln>
        </p:spPr>
      </p:sp>
      <p:sp>
        <p:nvSpPr>
          <p:cNvPr id="4" name="Text 2"/>
          <p:cNvSpPr txBox="1"/>
          <p:nvPr/>
        </p:nvSpPr>
        <p:spPr>
          <a:xfrm>
            <a:off x="685800" y="1371600"/>
            <a:ext cx="2194560" cy="1234440"/>
          </a:xfrm>
          <a:prstGeom prst="rect">
            <a:avLst/>
          </a:prstGeom>
          <a:noFill/>
          <a:ln/>
        </p:spPr>
        <p:txBody>
          <a:bodyPr wrap="square" lIns="0" tIns="0" rIns="0" bIns="0" rtlCol="0" anchor="ctr"/>
          <a:lstStyle/>
          <a:p>
            <a:pPr algn="ctr" indent="0" marL="0">
              <a:buNone/>
            </a:pPr>
            <a:r>
              <a:rPr lang="en-US" sz="1800" b="1" dirty="0">
                <a:solidFill>
                  <a:schemeClr val="bg1"/>
                </a:solidFill>
              </a:rPr>
              <a:t>Float model</a:t>
            </a:r>
            <a:endParaRPr lang="en-US" sz="1500" dirty="0"/>
          </a:p>
          <a:p>
            <a:pPr algn="ctr" indent="0" marL="0">
              <a:buNone/>
            </a:pPr>
            <a:r>
              <a:rPr lang="en-US" sz="1300" dirty="0">
                <a:solidFill>
                  <a:schemeClr val="bg1"/>
                </a:solidFill>
              </a:rPr>
              <a:t>Python, algorithm design and tuning</a:t>
            </a:r>
            <a:endParaRPr lang="en-US" sz="1500" dirty="0"/>
          </a:p>
        </p:txBody>
      </p:sp>
      <p:sp>
        <p:nvSpPr>
          <p:cNvPr id="5" name="Shape 3"/>
          <p:cNvSpPr/>
          <p:nvPr/>
        </p:nvSpPr>
        <p:spPr>
          <a:xfrm>
            <a:off x="3035808" y="1988820"/>
            <a:ext cx="329184" cy="0"/>
          </a:xfrm>
          <a:prstGeom prst="line">
            <a:avLst/>
          </a:prstGeom>
          <a:noFill/>
          <a:ln w="25400">
            <a:solidFill>
              <a:srgbClr val="0D3B44"/>
            </a:solidFill>
            <a:prstDash val="solid"/>
            <a:tailEnd type="triangle"/>
          </a:ln>
        </p:spPr>
      </p:sp>
      <p:sp>
        <p:nvSpPr>
          <p:cNvPr id="6" name="Chain Integer model"/>
          <p:cNvSpPr/>
          <p:nvPr/>
        </p:nvSpPr>
        <p:spPr>
          <a:xfrm>
            <a:off x="3383280" y="1371600"/>
            <a:ext cx="2468880" cy="1234440"/>
          </a:xfrm>
          <a:prstGeom prst="roundRect">
            <a:avLst>
              <a:gd name="adj" fmla="val 5926"/>
            </a:avLst>
          </a:prstGeom>
          <a:solidFill>
            <a:schemeClr val="accent1"/>
          </a:solidFill>
          <a:ln w="12700">
            <a:solidFill>
              <a:schemeClr val="accent1"/>
            </a:solidFill>
            <a:prstDash val="solid"/>
          </a:ln>
        </p:spPr>
      </p:sp>
      <p:sp>
        <p:nvSpPr>
          <p:cNvPr id="7" name="Text 5"/>
          <p:cNvSpPr txBox="1"/>
          <p:nvPr/>
        </p:nvSpPr>
        <p:spPr>
          <a:xfrm>
            <a:off x="3520440" y="1371600"/>
            <a:ext cx="2194560" cy="1234440"/>
          </a:xfrm>
          <a:prstGeom prst="rect">
            <a:avLst/>
          </a:prstGeom>
          <a:noFill/>
          <a:ln/>
        </p:spPr>
        <p:txBody>
          <a:bodyPr wrap="square" lIns="0" tIns="0" rIns="0" bIns="0" rtlCol="0" anchor="ctr"/>
          <a:lstStyle/>
          <a:p>
            <a:pPr algn="ctr" indent="0" marL="0">
              <a:buNone/>
            </a:pPr>
            <a:r>
              <a:rPr lang="en-US" sz="1800" b="1" dirty="0">
                <a:solidFill>
                  <a:schemeClr val="bg1"/>
                </a:solidFill>
              </a:rPr>
              <a:t>Integer model</a:t>
            </a:r>
            <a:endParaRPr lang="en-US" sz="1500" dirty="0"/>
          </a:p>
          <a:p>
            <a:pPr algn="ctr" indent="0" marL="0">
              <a:buNone/>
            </a:pPr>
            <a:r>
              <a:rPr lang="en-US" sz="1300" dirty="0">
                <a:solidFill>
                  <a:schemeClr val="bg1"/>
                </a:solidFill>
              </a:rPr>
              <a:t>exact Q1.11 widths, saturation, rounding</a:t>
            </a:r>
            <a:endParaRPr lang="en-US" sz="1500" dirty="0"/>
          </a:p>
        </p:txBody>
      </p:sp>
      <p:sp>
        <p:nvSpPr>
          <p:cNvPr id="8" name="Shape 6"/>
          <p:cNvSpPr/>
          <p:nvPr/>
        </p:nvSpPr>
        <p:spPr>
          <a:xfrm>
            <a:off x="5870448" y="1988820"/>
            <a:ext cx="329184" cy="0"/>
          </a:xfrm>
          <a:prstGeom prst="line">
            <a:avLst/>
          </a:prstGeom>
          <a:noFill/>
          <a:ln w="25400">
            <a:solidFill>
              <a:srgbClr val="0D3B44"/>
            </a:solidFill>
            <a:prstDash val="solid"/>
            <a:tailEnd type="triangle"/>
          </a:ln>
        </p:spPr>
      </p:sp>
      <p:sp>
        <p:nvSpPr>
          <p:cNvPr id="9" name="Chain RTL simulation"/>
          <p:cNvSpPr/>
          <p:nvPr/>
        </p:nvSpPr>
        <p:spPr>
          <a:xfrm>
            <a:off x="6217920" y="1371600"/>
            <a:ext cx="2468880" cy="1234440"/>
          </a:xfrm>
          <a:prstGeom prst="roundRect">
            <a:avLst>
              <a:gd name="adj" fmla="val 5926"/>
            </a:avLst>
          </a:prstGeom>
          <a:solidFill>
            <a:schemeClr val="accent1"/>
          </a:solidFill>
          <a:ln w="12700">
            <a:solidFill>
              <a:schemeClr val="accent1"/>
            </a:solidFill>
            <a:prstDash val="solid"/>
          </a:ln>
        </p:spPr>
      </p:sp>
      <p:sp>
        <p:nvSpPr>
          <p:cNvPr id="10" name="Text 8"/>
          <p:cNvSpPr txBox="1"/>
          <p:nvPr/>
        </p:nvSpPr>
        <p:spPr>
          <a:xfrm>
            <a:off x="6355080" y="1371600"/>
            <a:ext cx="2194560" cy="1234440"/>
          </a:xfrm>
          <a:prstGeom prst="rect">
            <a:avLst/>
          </a:prstGeom>
          <a:noFill/>
          <a:ln/>
        </p:spPr>
        <p:txBody>
          <a:bodyPr wrap="square" lIns="0" tIns="0" rIns="0" bIns="0" rtlCol="0" anchor="ctr"/>
          <a:lstStyle/>
          <a:p>
            <a:pPr algn="ctr" indent="0" marL="0">
              <a:buNone/>
            </a:pPr>
            <a:r>
              <a:rPr lang="en-US" sz="1800" b="1" dirty="0">
                <a:solidFill>
                  <a:schemeClr val="bg1"/>
                </a:solidFill>
              </a:rPr>
              <a:t>RTL simulation</a:t>
            </a:r>
            <a:endParaRPr lang="en-US" sz="1500" dirty="0"/>
          </a:p>
          <a:p>
            <a:pPr algn="ctr" indent="0" marL="0">
              <a:buNone/>
            </a:pPr>
            <a:r>
              <a:rPr lang="en-US" sz="1300" dirty="0">
                <a:solidFill>
                  <a:schemeClr val="bg1"/>
                </a:solidFill>
              </a:rPr>
              <a:t>Icarus + Questa, golden vectors</a:t>
            </a:r>
            <a:endParaRPr lang="en-US" sz="1500" dirty="0"/>
          </a:p>
        </p:txBody>
      </p:sp>
      <p:sp>
        <p:nvSpPr>
          <p:cNvPr id="11" name="Shape 9"/>
          <p:cNvSpPr/>
          <p:nvPr/>
        </p:nvSpPr>
        <p:spPr>
          <a:xfrm>
            <a:off x="8705088" y="1988820"/>
            <a:ext cx="329184" cy="0"/>
          </a:xfrm>
          <a:prstGeom prst="line">
            <a:avLst/>
          </a:prstGeom>
          <a:noFill/>
          <a:ln w="25400">
            <a:solidFill>
              <a:srgbClr val="0D3B44"/>
            </a:solidFill>
            <a:prstDash val="solid"/>
            <a:tailEnd type="triangle"/>
          </a:ln>
        </p:spPr>
      </p:sp>
      <p:sp>
        <p:nvSpPr>
          <p:cNvPr id="12" name="Chain On the board"/>
          <p:cNvSpPr/>
          <p:nvPr/>
        </p:nvSpPr>
        <p:spPr>
          <a:xfrm>
            <a:off x="9052560" y="1371600"/>
            <a:ext cx="2468880" cy="1234440"/>
          </a:xfrm>
          <a:prstGeom prst="roundRect">
            <a:avLst>
              <a:gd name="adj" fmla="val 5926"/>
            </a:avLst>
          </a:prstGeom>
          <a:solidFill>
            <a:schemeClr val="accent2"/>
          </a:solidFill>
          <a:ln w="12700">
            <a:solidFill>
              <a:schemeClr val="accent2"/>
            </a:solidFill>
            <a:prstDash val="solid"/>
          </a:ln>
        </p:spPr>
      </p:sp>
      <p:sp>
        <p:nvSpPr>
          <p:cNvPr id="13" name="Text 11"/>
          <p:cNvSpPr txBox="1"/>
          <p:nvPr/>
        </p:nvSpPr>
        <p:spPr>
          <a:xfrm>
            <a:off x="9189720" y="1371600"/>
            <a:ext cx="2194560" cy="1234440"/>
          </a:xfrm>
          <a:prstGeom prst="rect">
            <a:avLst/>
          </a:prstGeom>
          <a:noFill/>
          <a:ln/>
        </p:spPr>
        <p:txBody>
          <a:bodyPr wrap="square" lIns="0" tIns="0" rIns="0" bIns="0" rtlCol="0" anchor="ctr"/>
          <a:lstStyle/>
          <a:p>
            <a:pPr algn="ctr" indent="0" marL="0">
              <a:buNone/>
            </a:pPr>
            <a:r>
              <a:rPr lang="en-US" sz="1800" b="1" dirty="0">
                <a:solidFill>
                  <a:schemeClr val="tx1"/>
                </a:solidFill>
              </a:rPr>
              <a:t>On the board</a:t>
            </a:r>
            <a:endParaRPr lang="en-US" sz="1500" dirty="0"/>
          </a:p>
          <a:p>
            <a:pPr algn="ctr" indent="0" marL="0">
              <a:buNone/>
            </a:pPr>
            <a:r>
              <a:rPr lang="en-US" sz="1300" dirty="0">
                <a:solidFill>
                  <a:schemeClr val="tx1"/>
                </a:solidFill>
              </a:rPr>
              <a:t>Signal Tap captures of real codec data</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7589520" cy="914400"/>
        </p:xfrm>
        <a:graphic>
          <a:graphicData uri="http://schemas.openxmlformats.org/drawingml/2006/table">
            <a:tbl>
              <a:tblPr/>
              <a:tblGrid>
                <a:gridCol w="4846320"/>
                <a:gridCol w="822960"/>
                <a:gridCol w="1920240"/>
              </a:tblGrid>
              <a:tr h="329184">
                <a:tc>
                  <a:txBody>
                    <a:bodyPr/>
                    <a:lstStyle/>
                    <a:p>
                      <a:pPr indent="0" marL="0">
                        <a:buNone/>
                      </a:pPr>
                      <a:r>
                        <a:rPr lang="en-US" sz="1300" b="1" dirty="0">
                          <a:solidFill>
                            <a:srgbClr val="FFFFFF"/>
                          </a:solidFill>
                        </a:rPr>
                        <a:t>Suite</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300" b="1" dirty="0">
                          <a:solidFill>
                            <a:srgbClr val="FFFFFF"/>
                          </a:solidFill>
                        </a:rPr>
                        <a:t>Tests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300" b="1" dirty="0">
                          <a:solidFill>
                            <a:srgbClr val="FFFFFF"/>
                          </a:solidFill>
                        </a:rPr>
                        <a:t>Result</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r>
              <a:tr h="329184">
                <a:tc>
                  <a:txBody>
                    <a:bodyPr/>
                    <a:lstStyle/>
                    <a:p>
                      <a:pPr indent="0" marL="0">
                        <a:buNone/>
                      </a:pPr>
                      <a:r>
                        <a:rPr lang="en-US" sz="1300" dirty="0">
                          <a:solidFill>
                            <a:srgbClr val="1B2430"/>
                          </a:solidFill>
                        </a:rPr>
                        <a:t>Core golden vectors (W 8–31, L 2–32, saturation, freeze)</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dirty="0">
                          <a:solidFill>
                            <a:srgbClr val="1B2430"/>
                          </a:solidFill>
                        </a:rPr>
                        <a:t>68</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dirty="0">
                          <a:solidFill>
                            <a:srgbClr val="1B2430"/>
                          </a:solidFill>
                        </a:rPr>
                        <a:t>all bit-exact</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329184">
                <a:tc>
                  <a:txBody>
                    <a:bodyPr/>
                    <a:lstStyle/>
                    <a:p>
                      <a:pPr indent="0" marL="0">
                        <a:buNone/>
                      </a:pPr>
                      <a:r>
                        <a:rPr lang="en-US" sz="1300" dirty="0">
                          <a:solidFill>
                            <a:srgbClr val="1B2430"/>
                          </a:solidFill>
                        </a:rPr>
                        <a:t>Protocol corner cases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4</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pass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B2430"/>
                          </a:solidFill>
                        </a:rPr>
                        <a:t>Freeze hold / toggle variants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dirty="0">
                          <a:solidFill>
                            <a:srgbClr val="1B2430"/>
                          </a:solidFill>
                        </a:rPr>
                        <a:t>3</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dirty="0">
                          <a:solidFill>
                            <a:srgbClr val="1B2430"/>
                          </a:solidFill>
                        </a:rPr>
                        <a:t>pass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329184">
                <a:tc>
                  <a:txBody>
                    <a:bodyPr/>
                    <a:lstStyle/>
                    <a:p>
                      <a:pPr indent="0" marL="0">
                        <a:buNone/>
                      </a:pPr>
                      <a:r>
                        <a:rPr lang="en-US" sz="1300" dirty="0">
                          <a:solidFill>
                            <a:srgbClr val="1B2430"/>
                          </a:solidFill>
                        </a:rPr>
                        <a:t>Top level with codec model (T1–T10)</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11</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pass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B2430"/>
                          </a:solidFill>
                        </a:rPr>
                        <a:t>Python unit tests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dirty="0">
                          <a:solidFill>
                            <a:srgbClr val="1B2430"/>
                          </a:solidFill>
                        </a:rPr>
                        <a:t>53</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dirty="0">
                          <a:solidFill>
                            <a:srgbClr val="1B2430"/>
                          </a:solidFill>
                        </a:rPr>
                        <a:t>pass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329184">
                <a:tc>
                  <a:txBody>
                    <a:bodyPr/>
                    <a:lstStyle/>
                    <a:p>
                      <a:pPr indent="0" marL="0">
                        <a:buNone/>
                      </a:pPr>
                      <a:r>
                        <a:rPr lang="en-US" sz="1300" dirty="0">
                          <a:solidFill>
                            <a:srgbClr val="1B2430"/>
                          </a:solidFill>
                        </a:rPr>
                        <a:t>Verilator lint (-Wall)</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0 unwaived warnings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B2430"/>
                          </a:solidFill>
                        </a:rPr>
                        <a:t>On-board Signal Tap captures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b="1" dirty="0">
                          <a:solidFill>
                            <a:srgbClr val="1B2430"/>
                          </a:solidFill>
                        </a:rPr>
                        <a:t>25</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300" b="1" dirty="0">
                          <a:solidFill>
                            <a:srgbClr val="1B2430"/>
                          </a:solidFill>
                        </a:rPr>
                        <a:t>all bit-exact</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329184">
                <a:tc>
                  <a:txBody>
                    <a:bodyPr/>
                    <a:lstStyle/>
                    <a:p>
                      <a:pPr indent="0" marL="0">
                        <a:buNone/>
                      </a:pPr>
                      <a:r>
                        <a:rPr lang="en-US" sz="1300" dirty="0">
                          <a:solidFill>
                            <a:srgbClr val="1B2430"/>
                          </a:solidFill>
                        </a:rPr>
                        <a:t>On-board freeze, DAC word, 10-min soak</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4</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pass</a:t>
                      </a:r>
                      <a:endParaRPr lang="en-US" sz="13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bl>
          </a:graphicData>
        </a:graphic>
      </p:graphicFrame>
      <p:sp>
        <p:nvSpPr>
          <p:cNvPr id="15" name="Mutation card"/>
          <p:cNvSpPr/>
          <p:nvPr/>
        </p:nvSpPr>
        <p:spPr>
          <a:xfrm>
            <a:off x="8503920" y="2926080"/>
            <a:ext cx="3108960" cy="2971800"/>
          </a:xfrm>
          <a:prstGeom prst="roundRect">
            <a:avLst>
              <a:gd name="adj" fmla="val 2462"/>
            </a:avLst>
          </a:prstGeom>
          <a:solidFill>
            <a:schemeClr val="bg2"/>
          </a:solidFill>
          <a:ln w="12700">
            <a:solidFill>
              <a:schemeClr val="bg2"/>
            </a:solidFill>
            <a:prstDash val="solid"/>
          </a:ln>
        </p:spPr>
      </p:sp>
      <p:sp>
        <p:nvSpPr>
          <p:cNvPr id="16" name="Mutation circle"/>
          <p:cNvSpPr/>
          <p:nvPr/>
        </p:nvSpPr>
        <p:spPr>
          <a:xfrm>
            <a:off x="8732520" y="3154680"/>
            <a:ext cx="548640" cy="548640"/>
          </a:xfrm>
          <a:prstGeom prst="ellipse">
            <a:avLst/>
          </a:prstGeom>
          <a:solidFill>
            <a:schemeClr val="accent1"/>
          </a:solidFill>
          <a:ln w="12700">
            <a:solidFill>
              <a:schemeClr val="accent1"/>
            </a:solidFill>
            <a:prstDash val="solid"/>
          </a:ln>
        </p:spPr>
      </p:sp>
      <p:pic>
        <p:nvPicPr>
          <p:cNvPr id="17" name="Mutation icon" descr="preencoded.png">    </p:cNvPr>
          <p:cNvPicPr>
            <a:picLocks noChangeAspect="1"/>
          </p:cNvPicPr>
          <p:nvPr/>
        </p:nvPicPr>
        <p:blipFill>
          <a:blip r:embed="rId1"/>
          <a:stretch>
            <a:fillRect/>
          </a:stretch>
        </p:blipFill>
        <p:spPr>
          <a:xfrm>
            <a:off x="8869680" y="3291840"/>
            <a:ext cx="274320" cy="274320"/>
          </a:xfrm>
          <a:prstGeom prst="rect">
            <a:avLst/>
          </a:prstGeom>
        </p:spPr>
      </p:pic>
      <p:sp>
        <p:nvSpPr>
          <p:cNvPr id="18" name="Text 14"/>
          <p:cNvSpPr txBox="1"/>
          <p:nvPr/>
        </p:nvSpPr>
        <p:spPr>
          <a:xfrm>
            <a:off x="9418320" y="3154680"/>
            <a:ext cx="2103120" cy="548640"/>
          </a:xfrm>
          <a:prstGeom prst="rect">
            <a:avLst/>
          </a:prstGeom>
          <a:noFill/>
          <a:ln/>
        </p:spPr>
        <p:txBody>
          <a:bodyPr wrap="square" lIns="0" tIns="0" rIns="0" bIns="0" rtlCol="0" anchor="ctr"/>
          <a:lstStyle/>
          <a:p>
            <a:pPr indent="0" marL="0">
              <a:buNone/>
            </a:pPr>
            <a:r>
              <a:rPr lang="en-US" sz="1600" b="1" dirty="0">
                <a:solidFill>
                  <a:schemeClr val="tx2"/>
                </a:solidFill>
              </a:rPr>
              <a:t>Tests that can fail</a:t>
            </a:r>
            <a:endParaRPr lang="en-US" sz="1600" dirty="0"/>
          </a:p>
        </p:txBody>
      </p:sp>
      <p:sp>
        <p:nvSpPr>
          <p:cNvPr id="19" name="Text 15"/>
          <p:cNvSpPr txBox="1"/>
          <p:nvPr/>
        </p:nvSpPr>
        <p:spPr>
          <a:xfrm>
            <a:off x="8732520" y="3840480"/>
            <a:ext cx="2697480" cy="1828800"/>
          </a:xfrm>
          <a:prstGeom prst="rect">
            <a:avLst/>
          </a:prstGeom>
          <a:noFill/>
          <a:ln/>
        </p:spPr>
        <p:txBody>
          <a:bodyPr wrap="square" lIns="0" tIns="0" rIns="0" bIns="0" rtlCol="0" anchor="t"/>
          <a:lstStyle/>
          <a:p>
            <a:pPr indent="0" marL="0">
              <a:buNone/>
            </a:pPr>
            <a:r>
              <a:rPr lang="en-US" sz="1400" dirty="0">
                <a:solidFill>
                  <a:schemeClr val="tx1"/>
                </a:solidFill>
              </a:rPr>
              <a:t>Mutation tests inject faults into the RTL and confirm the testbenches catch them, so a pass means something.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Tuned fairly, NLMS-Shift ties NLMS and beats LMS on steps</a:t>
            </a:r>
            <a:endParaRPr lang="en-US" sz="3200" dirty="0"/>
          </a:p>
        </p:txBody>
      </p:sp>
      <p:sp>
        <p:nvSpPr>
          <p:cNvPr id="3" name="Setup card"/>
          <p:cNvSpPr/>
          <p:nvPr/>
        </p:nvSpPr>
        <p:spPr>
          <a:xfrm>
            <a:off x="548640" y="1325880"/>
            <a:ext cx="3657600" cy="4846320"/>
          </a:xfrm>
          <a:prstGeom prst="roundRect">
            <a:avLst>
              <a:gd name="adj" fmla="val 2000"/>
            </a:avLst>
          </a:prstGeom>
          <a:solidFill>
            <a:schemeClr val="bg2"/>
          </a:solidFill>
          <a:ln w="12700">
            <a:solidFill>
              <a:schemeClr val="bg2"/>
            </a:solidFill>
            <a:prstDash val="solid"/>
          </a:ln>
        </p:spPr>
      </p:sp>
      <p:sp>
        <p:nvSpPr>
          <p:cNvPr id="4" name="Text 2"/>
          <p:cNvSpPr txBox="1"/>
          <p:nvPr/>
        </p:nvSpPr>
        <p:spPr>
          <a:xfrm>
            <a:off x="777240" y="1508760"/>
            <a:ext cx="3200400" cy="365760"/>
          </a:xfrm>
          <a:prstGeom prst="rect">
            <a:avLst/>
          </a:prstGeom>
          <a:noFill/>
          <a:ln/>
        </p:spPr>
        <p:txBody>
          <a:bodyPr wrap="square" lIns="0" tIns="0" rIns="0" bIns="0" rtlCol="0" anchor="t"/>
          <a:lstStyle/>
          <a:p>
            <a:pPr indent="0" marL="0">
              <a:buNone/>
            </a:pPr>
            <a:r>
              <a:rPr lang="en-US" sz="1800" b="1" dirty="0">
                <a:solidFill>
                  <a:schemeClr val="tx2"/>
                </a:solidFill>
              </a:rPr>
              <a:t>Set-up</a:t>
            </a:r>
            <a:endParaRPr lang="en-US" sz="1800" dirty="0"/>
          </a:p>
        </p:txBody>
      </p:sp>
      <p:sp>
        <p:nvSpPr>
          <p:cNvPr id="5" name="Text 3"/>
          <p:cNvSpPr txBox="1"/>
          <p:nvPr/>
        </p:nvSpPr>
        <p:spPr>
          <a:xfrm>
            <a:off x="777240" y="1965960"/>
            <a:ext cx="3246120" cy="4023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4 scenarios, 16,000 samples at 8 kHz: stationary, amplitude steps (×3 then ×0.25), path switch, recorded chord</a:t>
            </a:r>
            <a:endParaRPr lang="en-US" sz="1400" dirty="0"/>
          </a:p>
          <a:p>
            <a:pPr marL="342900" indent="-342900">
              <a:spcAft>
                <a:spcPts val="800"/>
              </a:spcAft>
              <a:buSzPct val="100000"/>
              <a:buChar char="•"/>
            </a:pPr>
            <a:r>
              <a:rPr lang="en-US" sz="1400" dirty="0">
                <a:solidFill>
                  <a:schemeClr val="tx1"/>
                </a:solidFill>
              </a:rPr>
              <a:t>Step sizes tuned on seeds 101–103 with one criterion for all</a:t>
            </a:r>
            <a:endParaRPr lang="en-US" sz="1400" dirty="0"/>
          </a:p>
          <a:p>
            <a:pPr marL="342900" indent="-342900">
              <a:spcAft>
                <a:spcPts val="800"/>
              </a:spcAft>
              <a:buSzPct val="100000"/>
              <a:buChar char="•"/>
            </a:pPr>
            <a:r>
              <a:rPr lang="en-US" sz="1400" dirty="0">
                <a:solidFill>
                  <a:schemeClr val="tx1"/>
                </a:solidFill>
              </a:rPr>
              <a:t>Reported on seeds 1–20, 95% CI, paired TOST (±0.5 dB)</a:t>
            </a:r>
            <a:endParaRPr lang="en-US" sz="1400" dirty="0"/>
          </a:p>
          <a:p>
            <a:pPr marL="342900" indent="-342900">
              <a:spcAft>
                <a:spcPts val="800"/>
              </a:spcAft>
              <a:buSzPct val="100000"/>
              <a:buChar char="•"/>
            </a:pPr>
            <a:r>
              <a:rPr lang="en-US" sz="1400" dirty="0">
                <a:solidFill>
                  <a:schemeClr val="tx1"/>
                </a:solidFill>
              </a:rPr>
              <a:t>LMS μ = 0.25  ·  NLMS μ = 0.25, ε = 1  ·  Shift K = 3, ε = 0.25</a:t>
            </a:r>
            <a:endParaRPr lang="en-US" sz="1400" dirty="0"/>
          </a:p>
        </p:txBody>
      </p:sp>
      <p:graphicFrame>
        <p:nvGraphicFramePr>
          <p:cNvPr id="6" name="NR chart" descr=""/>
          <p:cNvGraphicFramePr/>
          <p:nvPr/>
        </p:nvGraphicFramePr>
        <p:xfrm>
          <a:off x="4480560" y="1280160"/>
          <a:ext cx="713232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480560" y="5349240"/>
            <a:ext cx="7132320" cy="777240"/>
          </a:xfrm>
          <a:prstGeom prst="rect">
            <a:avLst/>
          </a:prstGeom>
          <a:noFill/>
          <a:ln/>
        </p:spPr>
        <p:txBody>
          <a:bodyPr wrap="square" lIns="0" tIns="0" rIns="0" bIns="0" rtlCol="0" anchor="t"/>
          <a:lstStyle/>
          <a:p>
            <a:pPr indent="0" marL="0">
              <a:buNone/>
            </a:pPr>
            <a:r>
              <a:rPr lang="en-US" sz="1500" b="1" dirty="0">
                <a:solidFill>
                  <a:schemeClr val="accent1"/>
                </a:solidFill>
              </a:rPr>
              <a:t>+1.8 to +2.0 dB </a:t>
            </a:r>
            <a:pPr indent="0" marL="0">
              <a:buNone/>
            </a:pPr>
            <a:r>
              <a:rPr lang="en-US" sz="1500" dirty="0">
                <a:solidFill>
                  <a:schemeClr val="tx1"/>
                </a:solidFill>
              </a:rPr>
              <a:t>for both normalised variants over LMS on amplitude steps (p &lt; 10⁻⁷). Every NLMS-Shift vs NLMS difference is inside ±0.5 dB.</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 real noise and speech, the speech is the limit</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377440"/>
                <a:gridCol w="1280160"/>
                <a:gridCol w="1463040"/>
                <a:gridCol w="1828800"/>
              </a:tblGrid>
              <a:tr h="457200">
                <a:tc>
                  <a:txBody>
                    <a:bodyPr/>
                    <a:lstStyle/>
                    <a:p>
                      <a:pPr indent="0" marL="0">
                        <a:buNone/>
                      </a:pPr>
                      <a:r>
                        <a:rPr lang="en-US" sz="1400" b="1" dirty="0">
                          <a:solidFill>
                            <a:srgbClr val="FFFFFF"/>
                          </a:solidFill>
                        </a:rPr>
                        <a:t>MS-SNSD noise, 0 dB SNR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400" b="1" dirty="0">
                          <a:solidFill>
                            <a:srgbClr val="FFFFFF"/>
                          </a:solidFill>
                        </a:rPr>
                        <a:t>NR (dB)</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400" b="1" dirty="0">
                          <a:solidFill>
                            <a:srgbClr val="FFFFFF"/>
                          </a:solidFill>
                        </a:rPr>
                        <a:t>STOI</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400" b="1" dirty="0">
                          <a:solidFill>
                            <a:srgbClr val="FFFFFF"/>
                          </a:solidFill>
                        </a:rPr>
                        <a:t>PESQ (NB)</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r>
              <a:tr h="457200">
                <a:tc>
                  <a:txBody>
                    <a:bodyPr/>
                    <a:lstStyle/>
                    <a:p>
                      <a:pPr indent="0" marL="0">
                        <a:buNone/>
                      </a:pPr>
                      <a:r>
                        <a:rPr lang="en-US" sz="1400" dirty="0">
                          <a:solidFill>
                            <a:srgbClr val="1B2430"/>
                          </a:solidFill>
                        </a:rPr>
                        <a:t>Air conditioner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11.7–12.0</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0.78 → 0.95</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1.54 → 2.30–2.34</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457200">
                <a:tc>
                  <a:txBody>
                    <a:bodyPr/>
                    <a:lstStyle/>
                    <a:p>
                      <a:pPr indent="0" marL="0">
                        <a:buNone/>
                      </a:pPr>
                      <a:r>
                        <a:rPr lang="en-US" sz="1400" dirty="0">
                          <a:solidFill>
                            <a:srgbClr val="1B2430"/>
                          </a:solidFill>
                        </a:rPr>
                        <a:t>Vacuum cleaner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14.3–14.9</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0.73 → 0.98</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1.39 → 2.81</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Copy machine</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14.0–14.6</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0.69 → 0.98</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1.36 → 2.73–2.75</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457200">
                <a:tc>
                  <a:txBody>
                    <a:bodyPr/>
                    <a:lstStyle/>
                    <a:p>
                      <a:pPr indent="0" marL="0">
                        <a:buNone/>
                      </a:pPr>
                      <a:r>
                        <a:rPr lang="en-US" sz="1400" dirty="0">
                          <a:solidFill>
                            <a:srgbClr val="1B2430"/>
                          </a:solidFill>
                        </a:rPr>
                        <a:t>Babble</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12.0–12.4</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0.72 → 0.96</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1.48 → 2.47–2.48</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794760"/>
            <a:ext cx="6949440" cy="548640"/>
          </a:xfrm>
          <a:prstGeom prst="rect">
            <a:avLst/>
          </a:prstGeom>
          <a:noFill/>
          <a:ln/>
        </p:spPr>
        <p:txBody>
          <a:bodyPr wrap="square" lIns="0" tIns="0" rIns="0" bIns="0" rtlCol="0" anchor="t"/>
          <a:lstStyle/>
          <a:p>
            <a:pPr indent="0" marL="0">
              <a:buNone/>
            </a:pPr>
            <a:r>
              <a:rPr lang="en-US" sz="1200" i="1" dirty="0">
                <a:solidFill>
                  <a:schemeClr val="accent6"/>
                </a:solidFill>
              </a:rPr>
              <a:t>Range over LMS, NLMS and NLMS-Shift; 20 seeds each. NLMS leads LMS by 0.4–0.6 dB, NLMS-Shift sits between them.</a:t>
            </a:r>
            <a:endParaRPr lang="en-US" sz="1200" dirty="0"/>
          </a:p>
        </p:txBody>
      </p:sp>
      <p:sp>
        <p:nvSpPr>
          <p:cNvPr id="5" name="Leakage card"/>
          <p:cNvSpPr/>
          <p:nvPr/>
        </p:nvSpPr>
        <p:spPr>
          <a:xfrm>
            <a:off x="548640" y="4526280"/>
            <a:ext cx="6949440" cy="1280160"/>
          </a:xfrm>
          <a:prstGeom prst="roundRect">
            <a:avLst>
              <a:gd name="adj" fmla="val 5714"/>
            </a:avLst>
          </a:prstGeom>
          <a:solidFill>
            <a:schemeClr val="bg2"/>
          </a:solidFill>
          <a:ln w="12700">
            <a:solidFill>
              <a:schemeClr val="bg2"/>
            </a:solidFill>
            <a:prstDash val="solid"/>
          </a:ln>
        </p:spPr>
      </p:sp>
      <p:sp>
        <p:nvSpPr>
          <p:cNvPr id="6" name="Leakage circle"/>
          <p:cNvSpPr/>
          <p:nvPr/>
        </p:nvSpPr>
        <p:spPr>
          <a:xfrm>
            <a:off x="777240" y="4754880"/>
            <a:ext cx="548640" cy="548640"/>
          </a:xfrm>
          <a:prstGeom prst="ellipse">
            <a:avLst/>
          </a:prstGeom>
          <a:solidFill>
            <a:schemeClr val="accent6"/>
          </a:solidFill>
          <a:ln w="12700">
            <a:solidFill>
              <a:schemeClr val="accent6"/>
            </a:solidFill>
            <a:prstDash val="solid"/>
          </a:ln>
        </p:spPr>
      </p:sp>
      <p:pic>
        <p:nvPicPr>
          <p:cNvPr id="7" name="Leakage icon" descr="preencoded.png">    </p:cNvPr>
          <p:cNvPicPr>
            <a:picLocks noChangeAspect="1"/>
          </p:cNvPicPr>
          <p:nvPr/>
        </p:nvPicPr>
        <p:blipFill>
          <a:blip r:embed="rId1"/>
          <a:stretch>
            <a:fillRect/>
          </a:stretch>
        </p:blipFill>
        <p:spPr>
          <a:xfrm>
            <a:off x="914400" y="4892040"/>
            <a:ext cx="274320" cy="274320"/>
          </a:xfrm>
          <a:prstGeom prst="rect">
            <a:avLst/>
          </a:prstGeom>
        </p:spPr>
      </p:pic>
      <p:sp>
        <p:nvSpPr>
          <p:cNvPr id="8" name="Text 4"/>
          <p:cNvSpPr txBox="1"/>
          <p:nvPr/>
        </p:nvSpPr>
        <p:spPr>
          <a:xfrm>
            <a:off x="1508760" y="4663440"/>
            <a:ext cx="5760720" cy="1005840"/>
          </a:xfrm>
          <a:prstGeom prst="rect">
            <a:avLst/>
          </a:prstGeom>
          <a:noFill/>
          <a:ln/>
        </p:spPr>
        <p:txBody>
          <a:bodyPr wrap="square" lIns="0" tIns="0" rIns="0" bIns="0" rtlCol="0" anchor="ctr"/>
          <a:lstStyle/>
          <a:p>
            <a:pPr indent="0" marL="0">
              <a:buNone/>
            </a:pPr>
            <a:r>
              <a:rPr lang="en-US" sz="1500" b="1" dirty="0">
                <a:solidFill>
                  <a:schemeClr val="tx2"/>
                </a:solidFill>
              </a:rPr>
              <a:t>Mic placement matters more than the algorithm. </a:t>
            </a:r>
            <a:pPr indent="0" marL="0">
              <a:buNone/>
            </a:pPr>
            <a:r>
              <a:rPr lang="en-US" sz="1500" dirty="0">
                <a:solidFill>
                  <a:schemeClr val="tx1"/>
                </a:solidFill>
              </a:rPr>
              <a:t>With −20 dB of speech leaking into the reference, NR drops 2.3–4.6 dB and PESQ by 0.25–0.6.</a:t>
            </a:r>
            <a:endParaRPr lang="en-US" sz="1500" dirty="0"/>
          </a:p>
        </p:txBody>
      </p:sp>
      <p:sp>
        <p:nvSpPr>
          <p:cNvPr id="9" name="Speech card"/>
          <p:cNvSpPr/>
          <p:nvPr/>
        </p:nvSpPr>
        <p:spPr>
          <a:xfrm>
            <a:off x="7863840" y="1371600"/>
            <a:ext cx="3749040" cy="4800600"/>
          </a:xfrm>
          <a:prstGeom prst="roundRect">
            <a:avLst>
              <a:gd name="adj" fmla="val 1951"/>
            </a:avLst>
          </a:prstGeom>
          <a:solidFill>
            <a:schemeClr val="tx2"/>
          </a:solidFill>
          <a:ln w="12700">
            <a:solidFill>
              <a:schemeClr val="tx2"/>
            </a:solidFill>
            <a:prstDash val="solid"/>
          </a:ln>
        </p:spPr>
      </p:sp>
      <p:sp>
        <p:nvSpPr>
          <p:cNvPr id="10" name="Text 6"/>
          <p:cNvSpPr txBox="1"/>
          <p:nvPr/>
        </p:nvSpPr>
        <p:spPr>
          <a:xfrm>
            <a:off x="8138160" y="1600200"/>
            <a:ext cx="3291840" cy="365760"/>
          </a:xfrm>
          <a:prstGeom prst="rect">
            <a:avLst/>
          </a:prstGeom>
          <a:noFill/>
          <a:ln/>
        </p:spPr>
        <p:txBody>
          <a:bodyPr wrap="square" lIns="0" tIns="0" rIns="0" bIns="0" rtlCol="0" anchor="t"/>
          <a:lstStyle/>
          <a:p>
            <a:pPr indent="0" marL="0">
              <a:buNone/>
            </a:pPr>
            <a:r>
              <a:rPr lang="en-US" sz="1500" dirty="0">
                <a:solidFill>
                  <a:schemeClr val="bg2"/>
                </a:solidFill>
              </a:rPr>
              <a:t>Same noise, speech removed</a:t>
            </a:r>
            <a:endParaRPr lang="en-US" sz="1500" dirty="0"/>
          </a:p>
        </p:txBody>
      </p:sp>
      <p:sp>
        <p:nvSpPr>
          <p:cNvPr id="11" name="Text 7"/>
          <p:cNvSpPr txBox="1"/>
          <p:nvPr/>
        </p:nvSpPr>
        <p:spPr>
          <a:xfrm>
            <a:off x="8138160" y="2011680"/>
            <a:ext cx="3291840" cy="7315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18.5–31.9 dB</a:t>
            </a:r>
            <a:endParaRPr lang="en-US" sz="3600" dirty="0"/>
          </a:p>
        </p:txBody>
      </p:sp>
      <p:sp>
        <p:nvSpPr>
          <p:cNvPr id="12" name="Text 8"/>
          <p:cNvSpPr txBox="1"/>
          <p:nvPr/>
        </p:nvSpPr>
        <p:spPr>
          <a:xfrm>
            <a:off x="8138160" y="2926080"/>
            <a:ext cx="3291840" cy="365760"/>
          </a:xfrm>
          <a:prstGeom prst="rect">
            <a:avLst/>
          </a:prstGeom>
          <a:noFill/>
          <a:ln/>
        </p:spPr>
        <p:txBody>
          <a:bodyPr wrap="square" lIns="0" tIns="0" rIns="0" bIns="0" rtlCol="0" anchor="t"/>
          <a:lstStyle/>
          <a:p>
            <a:pPr indent="0" marL="0">
              <a:buNone/>
            </a:pPr>
            <a:r>
              <a:rPr lang="en-US" sz="1500" dirty="0">
                <a:solidFill>
                  <a:schemeClr val="bg2"/>
                </a:solidFill>
              </a:rPr>
              <a:t>With speech</a:t>
            </a:r>
            <a:endParaRPr lang="en-US" sz="1500" dirty="0"/>
          </a:p>
        </p:txBody>
      </p:sp>
      <p:sp>
        <p:nvSpPr>
          <p:cNvPr id="13" name="Text 9"/>
          <p:cNvSpPr txBox="1"/>
          <p:nvPr/>
        </p:nvSpPr>
        <p:spPr>
          <a:xfrm>
            <a:off x="8138160" y="3291840"/>
            <a:ext cx="3291840" cy="73152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11.7–14.9 dB</a:t>
            </a:r>
            <a:endParaRPr lang="en-US" sz="3600" dirty="0"/>
          </a:p>
        </p:txBody>
      </p:sp>
      <p:sp>
        <p:nvSpPr>
          <p:cNvPr id="14" name="Text 10"/>
          <p:cNvSpPr txBox="1"/>
          <p:nvPr/>
        </p:nvSpPr>
        <p:spPr>
          <a:xfrm>
            <a:off x="8138160" y="4206240"/>
            <a:ext cx="3291840" cy="1828800"/>
          </a:xfrm>
          <a:prstGeom prst="rect">
            <a:avLst/>
          </a:prstGeom>
          <a:noFill/>
          <a:ln/>
        </p:spPr>
        <p:txBody>
          <a:bodyPr wrap="square" lIns="0" tIns="0" rIns="0" bIns="0" rtlCol="0" anchor="t"/>
          <a:lstStyle/>
          <a:p>
            <a:pPr indent="0" marL="0">
              <a:buNone/>
            </a:pPr>
            <a:r>
              <a:rPr lang="en-US" sz="1400" dirty="0">
                <a:solidFill>
                  <a:schemeClr val="bg1"/>
                </a:solidFill>
              </a:rPr>
              <a:t>Speech enters e[n], which drives the update, and costs 6.4–17.9 dB. Freezing adaptation during speech (a voice-activity detector on the freeze input) is the known remedy; not evaluated here.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shift really changes: only the step size</a:t>
            </a:r>
            <a:endParaRPr lang="en-US" sz="3200" dirty="0"/>
          </a:p>
        </p:txBody>
      </p:sp>
      <p:pic>
        <p:nvPicPr>
          <p:cNvPr id="3" name="Equivalent step figure" descr="img/fig16_equiv_step.png">    </p:cNvPr>
          <p:cNvPicPr>
            <a:picLocks noChangeAspect="1"/>
          </p:cNvPicPr>
          <p:nvPr/>
        </p:nvPicPr>
        <p:blipFill>
          <a:blip r:embed="rId1"/>
          <a:stretch>
            <a:fillRect/>
          </a:stretch>
        </p:blipFill>
        <p:spPr>
          <a:xfrm>
            <a:off x="548640" y="1280160"/>
            <a:ext cx="7086600" cy="4526280"/>
          </a:xfrm>
          <a:prstGeom prst="rect">
            <a:avLst/>
          </a:prstGeom>
        </p:spPr>
      </p:pic>
      <p:sp>
        <p:nvSpPr>
          <p:cNvPr id="4" name="Text 1"/>
          <p:cNvSpPr txBox="1"/>
          <p:nvPr/>
        </p:nvSpPr>
        <p:spPr>
          <a:xfrm>
            <a:off x="548640" y="5852160"/>
            <a:ext cx="7086600" cy="411480"/>
          </a:xfrm>
          <a:prstGeom prst="rect">
            <a:avLst/>
          </a:prstGeom>
          <a:noFill/>
          <a:ln/>
        </p:spPr>
        <p:txBody>
          <a:bodyPr wrap="square" lIns="0" tIns="0" rIns="0" bIns="0" rtlCol="0" anchor="t"/>
          <a:lstStyle/>
          <a:p>
            <a:pPr indent="0" marL="0">
              <a:buNone/>
            </a:pPr>
            <a:r>
              <a:rPr lang="en-US" sz="1100" i="1" dirty="0">
                <a:solidFill>
                  <a:schemeClr val="accent6"/>
                </a:solidFill>
              </a:rPr>
              <a:t>Integer model, W = 12, L = 32, K = 3, ε = 2⁻². Left: broadband noise; right: two-tone reference.</a:t>
            </a:r>
            <a:endParaRPr lang="en-US" sz="1100" dirty="0"/>
          </a:p>
        </p:txBody>
      </p:sp>
      <p:sp>
        <p:nvSpPr>
          <p:cNvPr id="5" name="Equation card"/>
          <p:cNvSpPr/>
          <p:nvPr/>
        </p:nvSpPr>
        <p:spPr>
          <a:xfrm>
            <a:off x="8001000" y="1325880"/>
            <a:ext cx="3611880" cy="1234440"/>
          </a:xfrm>
          <a:prstGeom prst="roundRect">
            <a:avLst>
              <a:gd name="adj" fmla="val 5926"/>
            </a:avLst>
          </a:prstGeom>
          <a:solidFill>
            <a:schemeClr val="bg2"/>
          </a:solidFill>
          <a:ln w="12700">
            <a:solidFill>
              <a:schemeClr val="bg2"/>
            </a:solidFill>
            <a:prstDash val="solid"/>
          </a:ln>
        </p:spPr>
      </p:sp>
      <p:sp>
        <p:nvSpPr>
          <p:cNvPr id="6" name="Text 3"/>
          <p:cNvSpPr txBox="1"/>
          <p:nvPr/>
        </p:nvSpPr>
        <p:spPr>
          <a:xfrm>
            <a:off x="8183880" y="1325880"/>
            <a:ext cx="3291840" cy="12344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μ[n] = r[n] · 2⁻ᴷ / (P + ε)</a:t>
            </a:r>
            <a:endParaRPr lang="en-US" sz="1500" dirty="0"/>
          </a:p>
          <a:p>
            <a:pPr indent="0" marL="0">
              <a:buNone/>
            </a:pPr>
            <a:r>
              <a:rPr lang="en-US" sz="1300" dirty="0">
                <a:solidFill>
                  <a:schemeClr val="tx1"/>
                </a:solidFill>
              </a:rPr>
              <a:t>r[n] ∈ [0.5, 1) is where P + ε sits in its octave</a:t>
            </a:r>
            <a:endParaRPr lang="en-US" sz="1500" dirty="0"/>
          </a:p>
        </p:txBody>
      </p:sp>
      <p:sp>
        <p:nvSpPr>
          <p:cNvPr id="7" name="Text 4"/>
          <p:cNvSpPr txBox="1"/>
          <p:nvPr/>
        </p:nvSpPr>
        <p:spPr>
          <a:xfrm>
            <a:off x="8001000" y="2743200"/>
            <a:ext cx="3611880" cy="320040"/>
          </a:xfrm>
          <a:prstGeom prst="rect">
            <a:avLst/>
          </a:prstGeom>
          <a:noFill/>
          <a:ln/>
        </p:spPr>
        <p:txBody>
          <a:bodyPr wrap="square" lIns="0" tIns="0" rIns="0" bIns="0" rtlCol="0" anchor="t"/>
          <a:lstStyle/>
          <a:p>
            <a:pPr indent="0" marL="0">
              <a:buNone/>
            </a:pPr>
            <a:r>
              <a:rPr lang="en-US" sz="1600" b="1" dirty="0">
                <a:solidFill>
                  <a:schemeClr val="accent1"/>
                </a:solidFill>
              </a:rPr>
              <a:t>Broadband</a:t>
            </a:r>
            <a:endParaRPr lang="en-US" sz="1600" dirty="0"/>
          </a:p>
        </p:txBody>
      </p:sp>
      <p:sp>
        <p:nvSpPr>
          <p:cNvPr id="8" name="Text 5"/>
          <p:cNvSpPr txBox="1"/>
          <p:nvPr/>
        </p:nvSpPr>
        <p:spPr>
          <a:xfrm>
            <a:off x="8001000" y="3072384"/>
            <a:ext cx="3611880" cy="841248"/>
          </a:xfrm>
          <a:prstGeom prst="rect">
            <a:avLst/>
          </a:prstGeom>
          <a:noFill/>
          <a:ln/>
        </p:spPr>
        <p:txBody>
          <a:bodyPr wrap="square" lIns="0" tIns="0" rIns="0" bIns="0" rtlCol="0" anchor="t"/>
          <a:lstStyle/>
          <a:p>
            <a:pPr indent="0" marL="0">
              <a:buNone/>
            </a:pPr>
            <a:r>
              <a:rPr lang="en-US" sz="1300" dirty="0">
                <a:solidFill>
                  <a:schemeClr val="tx1"/>
                </a:solidFill>
              </a:rPr>
              <a:t>r̄ moves smoothly between 0.56 and 0.78. NLMS run with the constant step r̄·2⁻ᴷ matches NLMS-Shift within 0.27 dB at all 17 levels.</a:t>
            </a:r>
            <a:endParaRPr lang="en-US" sz="1300" dirty="0"/>
          </a:p>
        </p:txBody>
      </p:sp>
      <p:sp>
        <p:nvSpPr>
          <p:cNvPr id="9" name="Text 6"/>
          <p:cNvSpPr txBox="1"/>
          <p:nvPr/>
        </p:nvSpPr>
        <p:spPr>
          <a:xfrm>
            <a:off x="8001000" y="3931920"/>
            <a:ext cx="3611880" cy="320040"/>
          </a:xfrm>
          <a:prstGeom prst="rect">
            <a:avLst/>
          </a:prstGeom>
          <a:noFill/>
          <a:ln/>
        </p:spPr>
        <p:txBody>
          <a:bodyPr wrap="square" lIns="0" tIns="0" rIns="0" bIns="0" rtlCol="0" anchor="t"/>
          <a:lstStyle/>
          <a:p>
            <a:pPr indent="0" marL="0">
              <a:buNone/>
            </a:pPr>
            <a:r>
              <a:rPr lang="en-US" sz="1600" b="1" dirty="0">
                <a:solidFill>
                  <a:schemeClr val="accent1"/>
                </a:solidFill>
              </a:rPr>
              <a:t>Tonal</a:t>
            </a:r>
            <a:endParaRPr lang="en-US" sz="1600" dirty="0"/>
          </a:p>
        </p:txBody>
      </p:sp>
      <p:sp>
        <p:nvSpPr>
          <p:cNvPr id="10" name="Text 7"/>
          <p:cNvSpPr txBox="1"/>
          <p:nvPr/>
        </p:nvSpPr>
        <p:spPr>
          <a:xfrm>
            <a:off x="8001000" y="4261104"/>
            <a:ext cx="3611880" cy="841248"/>
          </a:xfrm>
          <a:prstGeom prst="rect">
            <a:avLst/>
          </a:prstGeom>
          <a:noFill/>
          <a:ln/>
        </p:spPr>
        <p:txBody>
          <a:bodyPr wrap="square" lIns="0" tIns="0" rIns="0" bIns="0" rtlCol="0" anchor="t"/>
          <a:lstStyle/>
          <a:p>
            <a:pPr indent="0" marL="0">
              <a:buNone/>
            </a:pPr>
            <a:r>
              <a:rPr lang="en-US" sz="1300" dirty="0">
                <a:solidFill>
                  <a:schemeClr val="tx1"/>
                </a:solidFill>
              </a:rPr>
              <a:t>P is nearly constant, so r̄ jumps from 0.87 to 0.62 within 0.75 dB of level at −21.1 dBFS: a step change plain NLMS does not have.</a:t>
            </a:r>
            <a:endParaRPr lang="en-US" sz="1300" dirty="0"/>
          </a:p>
        </p:txBody>
      </p:sp>
      <p:sp>
        <p:nvSpPr>
          <p:cNvPr id="11" name="Text 8"/>
          <p:cNvSpPr txBox="1"/>
          <p:nvPr/>
        </p:nvSpPr>
        <p:spPr>
          <a:xfrm>
            <a:off x="8001000" y="5120640"/>
            <a:ext cx="3611880" cy="320040"/>
          </a:xfrm>
          <a:prstGeom prst="rect">
            <a:avLst/>
          </a:prstGeom>
          <a:noFill/>
          <a:ln/>
        </p:spPr>
        <p:txBody>
          <a:bodyPr wrap="square" lIns="0" tIns="0" rIns="0" bIns="0" rtlCol="0" anchor="t"/>
          <a:lstStyle/>
          <a:p>
            <a:pPr indent="0" marL="0">
              <a:buNone/>
            </a:pPr>
            <a:r>
              <a:rPr lang="en-US" sz="1600" b="1" dirty="0">
                <a:solidFill>
                  <a:schemeClr val="accent1"/>
                </a:solidFill>
              </a:rPr>
              <a:t>Design rule</a:t>
            </a:r>
            <a:endParaRPr lang="en-US" sz="1600" dirty="0"/>
          </a:p>
        </p:txBody>
      </p:sp>
      <p:sp>
        <p:nvSpPr>
          <p:cNvPr id="12" name="Text 9"/>
          <p:cNvSpPr txBox="1"/>
          <p:nvPr/>
        </p:nvSpPr>
        <p:spPr>
          <a:xfrm>
            <a:off x="8001000" y="5449824"/>
            <a:ext cx="3611880" cy="841248"/>
          </a:xfrm>
          <a:prstGeom prst="rect">
            <a:avLst/>
          </a:prstGeom>
          <a:noFill/>
          <a:ln/>
        </p:spPr>
        <p:txBody>
          <a:bodyPr wrap="square" lIns="0" tIns="0" rIns="0" bIns="0" rtlCol="0" anchor="t"/>
          <a:lstStyle/>
          <a:p>
            <a:pPr indent="0" marL="0">
              <a:buNone/>
            </a:pPr>
            <a:r>
              <a:rPr lang="en-US" sz="1300" dirty="0">
                <a:solidFill>
                  <a:schemeClr val="tx1"/>
                </a:solidFill>
              </a:rPr>
              <a:t>Choose K and ε for the expected input level; that matters more than the shift itself.</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NLMS-Shift costs NLMS's area but LMS's cycles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06640" cy="914400"/>
        </p:xfrm>
        <a:graphic>
          <a:graphicData uri="http://schemas.openxmlformats.org/drawingml/2006/table">
            <a:tbl>
              <a:tblPr/>
              <a:tblGrid>
                <a:gridCol w="3566160"/>
                <a:gridCol w="1280160"/>
                <a:gridCol w="1280160"/>
                <a:gridCol w="1280160"/>
              </a:tblGrid>
              <a:tr h="457200">
                <a:tc>
                  <a:txBody>
                    <a:bodyPr/>
                    <a:lstStyle/>
                    <a:p>
                      <a:pPr indent="0" marL="0">
                        <a:buNone/>
                      </a:pPr>
                      <a:r>
                        <a:rPr lang="en-US" sz="1400" b="1" dirty="0">
                          <a:solidFill>
                            <a:srgbClr val="FFFFFF"/>
                          </a:solidFill>
                        </a:rPr>
                        <a:t>Complete board design, EP4CE115F29C7</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algn="ctr" indent="0" marL="0">
                        <a:buNone/>
                      </a:pPr>
                      <a:r>
                        <a:rPr lang="en-US" sz="1400" b="1" dirty="0">
                          <a:solidFill>
                            <a:srgbClr val="FFFFFF"/>
                          </a:solidFill>
                        </a:rPr>
                        <a:t>LMS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F77B4"/>
                    </a:solidFill>
                  </a:tcPr>
                </a:tc>
                <a:tc>
                  <a:txBody>
                    <a:bodyPr/>
                    <a:lstStyle/>
                    <a:p>
                      <a:pPr algn="ctr" indent="0" marL="0">
                        <a:buNone/>
                      </a:pPr>
                      <a:r>
                        <a:rPr lang="en-US" sz="1400" b="1" dirty="0">
                          <a:solidFill>
                            <a:srgbClr val="FFFFFF"/>
                          </a:solidFill>
                        </a:rPr>
                        <a:t>NLMS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7F0E"/>
                    </a:solidFill>
                  </a:tcPr>
                </a:tc>
                <a:tc>
                  <a:txBody>
                    <a:bodyPr/>
                    <a:lstStyle/>
                    <a:p>
                      <a:pPr algn="ctr" indent="0" marL="0">
                        <a:buNone/>
                      </a:pPr>
                      <a:r>
                        <a:rPr lang="en-US" sz="1400" b="1" dirty="0">
                          <a:solidFill>
                            <a:srgbClr val="FFFFFF"/>
                          </a:solidFill>
                        </a:rPr>
                        <a:t>NLMS-Shift</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2CA02C"/>
                    </a:solidFill>
                  </a:tcPr>
                </a:tc>
              </a:tr>
              <a:tr h="457200">
                <a:tc>
                  <a:txBody>
                    <a:bodyPr/>
                    <a:lstStyle/>
                    <a:p>
                      <a:pPr algn="l" indent="0" marL="0">
                        <a:buNone/>
                      </a:pPr>
                      <a:r>
                        <a:rPr lang="en-US" sz="1400" dirty="0">
                          <a:solidFill>
                            <a:srgbClr val="1B2430"/>
                          </a:solidFill>
                        </a:rPr>
                        <a:t>Logic elements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1,792</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2,626</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2,610</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457200">
                <a:tc>
                  <a:txBody>
                    <a:bodyPr/>
                    <a:lstStyle/>
                    <a:p>
                      <a:pPr algn="l" indent="0" marL="0">
                        <a:buNone/>
                      </a:pPr>
                      <a:r>
                        <a:rPr lang="en-US" sz="1400" dirty="0">
                          <a:solidFill>
                            <a:srgbClr val="1B2430"/>
                          </a:solidFill>
                        </a:rPr>
                        <a:t>Registers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1,123</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1,404</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1,186</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430"/>
                          </a:solidFill>
                        </a:rPr>
                        <a:t>9-bit multipliers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4</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4</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4</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457200">
                <a:tc>
                  <a:txBody>
                    <a:bodyPr/>
                    <a:lstStyle/>
                    <a:p>
                      <a:pPr algn="l" indent="0" marL="0">
                        <a:buNone/>
                      </a:pPr>
                      <a:r>
                        <a:rPr lang="en-US" sz="1400" dirty="0">
                          <a:solidFill>
                            <a:srgbClr val="1B2430"/>
                          </a:solidFill>
                        </a:rPr>
                        <a:t>Fmax, slow 85 °C (MHz)</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70.08</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59.75</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58.66</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430"/>
                          </a:solidFill>
                        </a:rPr>
                        <a:t>Setup slack at 50 MHz (ns)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5.731</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3.263</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dirty="0">
                          <a:solidFill>
                            <a:srgbClr val="1B2430"/>
                          </a:solidFill>
                        </a:rPr>
                        <a:t>2.953</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457200">
                <a:tc>
                  <a:txBody>
                    <a:bodyPr/>
                    <a:lstStyle/>
                    <a:p>
                      <a:pPr algn="l" indent="0" marL="0">
                        <a:buNone/>
                      </a:pPr>
                      <a:r>
                        <a:rPr lang="en-US" sz="1400" dirty="0">
                          <a:solidFill>
                            <a:srgbClr val="1B2430"/>
                          </a:solidFill>
                        </a:rPr>
                        <a:t>Latency (cycles)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35</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37</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37</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430"/>
                          </a:solidFill>
                        </a:rPr>
                        <a:t>Busy cycles per sample (board)</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b="1" dirty="0">
                          <a:solidFill>
                            <a:srgbClr val="1B2430"/>
                          </a:solidFill>
                        </a:rPr>
                        <a:t>73</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b="1" dirty="0">
                          <a:solidFill>
                            <a:srgbClr val="1B2430"/>
                          </a:solidFill>
                        </a:rPr>
                        <a:t>130</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400" b="1" dirty="0">
                          <a:solidFill>
                            <a:srgbClr val="1B2430"/>
                          </a:solidFill>
                        </a:rPr>
                        <a:t>72</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457200">
                <a:tc>
                  <a:txBody>
                    <a:bodyPr/>
                    <a:lstStyle/>
                    <a:p>
                      <a:pPr algn="l" indent="0" marL="0">
                        <a:buNone/>
                      </a:pPr>
                      <a:r>
                        <a:rPr lang="en-US" sz="1400" dirty="0">
                          <a:solidFill>
                            <a:srgbClr val="1B2430"/>
                          </a:solidFill>
                        </a:rPr>
                        <a:t>RTL bit toggles per sample</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5,668</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7,146</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430"/>
                          </a:solidFill>
                        </a:rPr>
                        <a:t>6,012</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623560"/>
            <a:ext cx="7406640" cy="457200"/>
          </a:xfrm>
          <a:prstGeom prst="rect">
            <a:avLst/>
          </a:prstGeom>
          <a:noFill/>
          <a:ln/>
        </p:spPr>
        <p:txBody>
          <a:bodyPr wrap="square" lIns="0" tIns="0" rIns="0" bIns="0" rtlCol="0" anchor="t"/>
          <a:lstStyle/>
          <a:p>
            <a:pPr indent="0" marL="0">
              <a:buNone/>
            </a:pPr>
            <a:r>
              <a:rPr lang="en-US" sz="1200" i="1" dirty="0">
                <a:solidFill>
                  <a:schemeClr val="accent6"/>
                </a:solidFill>
              </a:rPr>
              <a:t>Quartus Prime Lite 25.1, commit da0b6f4. All three close timing at 50 MHz with no critical warnings.</a:t>
            </a:r>
            <a:endParaRPr lang="en-US" sz="1200" dirty="0"/>
          </a:p>
        </p:txBody>
      </p:sp>
      <p:sp>
        <p:nvSpPr>
          <p:cNvPr id="5" name="Text 2"/>
          <p:cNvSpPr txBox="1"/>
          <p:nvPr/>
        </p:nvSpPr>
        <p:spPr>
          <a:xfrm>
            <a:off x="8321040" y="1371600"/>
            <a:ext cx="14630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45%</a:t>
            </a:r>
            <a:endParaRPr lang="en-US" sz="3600" dirty="0"/>
          </a:p>
        </p:txBody>
      </p:sp>
      <p:sp>
        <p:nvSpPr>
          <p:cNvPr id="6" name="Text 3"/>
          <p:cNvSpPr txBox="1"/>
          <p:nvPr/>
        </p:nvSpPr>
        <p:spPr>
          <a:xfrm>
            <a:off x="9829800" y="1371600"/>
            <a:ext cx="1783080" cy="731520"/>
          </a:xfrm>
          <a:prstGeom prst="rect">
            <a:avLst/>
          </a:prstGeom>
          <a:noFill/>
          <a:ln/>
        </p:spPr>
        <p:txBody>
          <a:bodyPr wrap="square" lIns="0" tIns="0" rIns="0" bIns="0" rtlCol="0" anchor="ctr"/>
          <a:lstStyle/>
          <a:p>
            <a:pPr indent="0" marL="0">
              <a:buNone/>
            </a:pPr>
            <a:r>
              <a:rPr lang="en-US" sz="1400" dirty="0">
                <a:solidFill>
                  <a:schemeClr val="tx1"/>
                </a:solidFill>
              </a:rPr>
              <a:t>fewer busy cycles than NLMS</a:t>
            </a:r>
            <a:endParaRPr lang="en-US" sz="1400" dirty="0"/>
          </a:p>
        </p:txBody>
      </p:sp>
      <p:sp>
        <p:nvSpPr>
          <p:cNvPr id="7" name="Text 4"/>
          <p:cNvSpPr txBox="1"/>
          <p:nvPr/>
        </p:nvSpPr>
        <p:spPr>
          <a:xfrm>
            <a:off x="8321040" y="2560320"/>
            <a:ext cx="14630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15%</a:t>
            </a:r>
            <a:endParaRPr lang="en-US" sz="3600" dirty="0"/>
          </a:p>
        </p:txBody>
      </p:sp>
      <p:sp>
        <p:nvSpPr>
          <p:cNvPr id="8" name="Text 5"/>
          <p:cNvSpPr txBox="1"/>
          <p:nvPr/>
        </p:nvSpPr>
        <p:spPr>
          <a:xfrm>
            <a:off x="9829800" y="2560320"/>
            <a:ext cx="1783080" cy="731520"/>
          </a:xfrm>
          <a:prstGeom prst="rect">
            <a:avLst/>
          </a:prstGeom>
          <a:noFill/>
          <a:ln/>
        </p:spPr>
        <p:txBody>
          <a:bodyPr wrap="square" lIns="0" tIns="0" rIns="0" bIns="0" rtlCol="0" anchor="ctr"/>
          <a:lstStyle/>
          <a:p>
            <a:pPr indent="0" marL="0">
              <a:buNone/>
            </a:pPr>
            <a:r>
              <a:rPr lang="en-US" sz="1400" dirty="0">
                <a:solidFill>
                  <a:schemeClr val="tx1"/>
                </a:solidFill>
              </a:rPr>
              <a:t>fewer registers than NLMS</a:t>
            </a:r>
            <a:endParaRPr lang="en-US" sz="1400" dirty="0"/>
          </a:p>
        </p:txBody>
      </p:sp>
      <p:sp>
        <p:nvSpPr>
          <p:cNvPr id="9" name="Text 6"/>
          <p:cNvSpPr txBox="1"/>
          <p:nvPr/>
        </p:nvSpPr>
        <p:spPr>
          <a:xfrm>
            <a:off x="8321040" y="3749040"/>
            <a:ext cx="146304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31%</a:t>
            </a:r>
            <a:endParaRPr lang="en-US" sz="3600" dirty="0"/>
          </a:p>
        </p:txBody>
      </p:sp>
      <p:sp>
        <p:nvSpPr>
          <p:cNvPr id="10" name="Text 7"/>
          <p:cNvSpPr txBox="1"/>
          <p:nvPr/>
        </p:nvSpPr>
        <p:spPr>
          <a:xfrm>
            <a:off x="9829800" y="3749040"/>
            <a:ext cx="1783080" cy="731520"/>
          </a:xfrm>
          <a:prstGeom prst="rect">
            <a:avLst/>
          </a:prstGeom>
          <a:noFill/>
          <a:ln/>
        </p:spPr>
        <p:txBody>
          <a:bodyPr wrap="square" lIns="0" tIns="0" rIns="0" bIns="0" rtlCol="0" anchor="ctr"/>
          <a:lstStyle/>
          <a:p>
            <a:pPr indent="0" marL="0">
              <a:buNone/>
            </a:pPr>
            <a:r>
              <a:rPr lang="en-US" sz="1400" dirty="0">
                <a:solidFill>
                  <a:schemeClr val="tx1"/>
                </a:solidFill>
              </a:rPr>
              <a:t>smaller: LMS vs either normalised variant</a:t>
            </a:r>
            <a:endParaRPr lang="en-US" sz="1400" dirty="0"/>
          </a:p>
        </p:txBody>
      </p:sp>
      <p:sp>
        <p:nvSpPr>
          <p:cNvPr id="11" name="Power card"/>
          <p:cNvSpPr/>
          <p:nvPr/>
        </p:nvSpPr>
        <p:spPr>
          <a:xfrm>
            <a:off x="8321040" y="4983480"/>
            <a:ext cx="3291840" cy="1188720"/>
          </a:xfrm>
          <a:prstGeom prst="roundRect">
            <a:avLst>
              <a:gd name="adj" fmla="val 6154"/>
            </a:avLst>
          </a:prstGeom>
          <a:solidFill>
            <a:schemeClr val="bg2"/>
          </a:solidFill>
          <a:ln w="12700">
            <a:solidFill>
              <a:schemeClr val="bg2"/>
            </a:solidFill>
            <a:prstDash val="solid"/>
          </a:ln>
        </p:spPr>
      </p:sp>
      <p:sp>
        <p:nvSpPr>
          <p:cNvPr id="12" name="Power circle"/>
          <p:cNvSpPr/>
          <p:nvPr/>
        </p:nvSpPr>
        <p:spPr>
          <a:xfrm>
            <a:off x="8503920" y="5166360"/>
            <a:ext cx="502920" cy="502920"/>
          </a:xfrm>
          <a:prstGeom prst="ellipse">
            <a:avLst/>
          </a:prstGeom>
          <a:solidFill>
            <a:schemeClr val="accent2"/>
          </a:solidFill>
          <a:ln w="12700">
            <a:solidFill>
              <a:schemeClr val="accent2"/>
            </a:solidFill>
            <a:prstDash val="solid"/>
          </a:ln>
        </p:spPr>
      </p:sp>
      <p:pic>
        <p:nvPicPr>
          <p:cNvPr id="13" name="Power icon" descr="preencoded.png">    </p:cNvPr>
          <p:cNvPicPr>
            <a:picLocks noChangeAspect="1"/>
          </p:cNvPicPr>
          <p:nvPr/>
        </p:nvPicPr>
        <p:blipFill>
          <a:blip r:embed="rId1"/>
          <a:stretch>
            <a:fillRect/>
          </a:stretch>
        </p:blipFill>
        <p:spPr>
          <a:xfrm>
            <a:off x="8629650" y="5292090"/>
            <a:ext cx="251460" cy="251460"/>
          </a:xfrm>
          <a:prstGeom prst="rect">
            <a:avLst/>
          </a:prstGeom>
        </p:spPr>
      </p:pic>
      <p:sp>
        <p:nvSpPr>
          <p:cNvPr id="14" name="Text 10"/>
          <p:cNvSpPr txBox="1"/>
          <p:nvPr/>
        </p:nvSpPr>
        <p:spPr>
          <a:xfrm>
            <a:off x="9144000" y="5120640"/>
            <a:ext cx="2377440" cy="960120"/>
          </a:xfrm>
          <a:prstGeom prst="rect">
            <a:avLst/>
          </a:prstGeom>
          <a:noFill/>
          <a:ln/>
        </p:spPr>
        <p:txBody>
          <a:bodyPr wrap="square" lIns="0" tIns="0" rIns="0" bIns="0" rtlCol="0" anchor="t"/>
          <a:lstStyle/>
          <a:p>
            <a:pPr indent="0" marL="0">
              <a:buNone/>
            </a:pPr>
            <a:r>
              <a:rPr lang="en-US" sz="1300" b="1" dirty="0">
                <a:solidFill>
                  <a:schemeClr val="tx2"/>
                </a:solidFill>
              </a:rPr>
              <a:t>Power: in progress. </a:t>
            </a:r>
            <a:pPr indent="0" marL="0">
              <a:buNone/>
            </a:pPr>
            <a:r>
              <a:rPr lang="en-US" sz="1300" dirty="0">
                <a:solidFill>
                  <a:schemeClr val="tx1"/>
                </a:solidFill>
              </a:rPr>
              <a:t>Gate-level, activity-based energy per sample is being measured.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 the board, every output sample matches the model</a:t>
            </a:r>
            <a:endParaRPr lang="en-US" sz="3200" dirty="0"/>
          </a:p>
        </p:txBody>
      </p:sp>
      <p:pic>
        <p:nvPicPr>
          <p:cNvPr id="3" name="Board capture figure" descr="img/fig14_board_capture_amp_steps.png">    </p:cNvPr>
          <p:cNvPicPr>
            <a:picLocks noChangeAspect="1"/>
          </p:cNvPicPr>
          <p:nvPr/>
        </p:nvPicPr>
        <p:blipFill>
          <a:blip r:embed="rId1"/>
          <a:stretch>
            <a:fillRect/>
          </a:stretch>
        </p:blipFill>
        <p:spPr>
          <a:xfrm>
            <a:off x="548640" y="1280160"/>
            <a:ext cx="6995160" cy="4663440"/>
          </a:xfrm>
          <a:prstGeom prst="rect">
            <a:avLst/>
          </a:prstGeom>
        </p:spPr>
      </p:pic>
      <p:sp>
        <p:nvSpPr>
          <p:cNvPr id="4" name="Text 1"/>
          <p:cNvSpPr txBox="1"/>
          <p:nvPr/>
        </p:nvSpPr>
        <p:spPr>
          <a:xfrm>
            <a:off x="548640" y="5943600"/>
            <a:ext cx="6995160" cy="365760"/>
          </a:xfrm>
          <a:prstGeom prst="rect">
            <a:avLst/>
          </a:prstGeom>
          <a:noFill/>
          <a:ln/>
        </p:spPr>
        <p:txBody>
          <a:bodyPr wrap="square" lIns="0" tIns="0" rIns="0" bIns="0" rtlCol="0" anchor="t"/>
          <a:lstStyle/>
          <a:p>
            <a:pPr indent="0" marL="0">
              <a:buNone/>
            </a:pPr>
            <a:r>
              <a:rPr lang="en-US" sz="1100" i="1" dirty="0">
                <a:solidFill>
                  <a:schemeClr val="accent6"/>
                </a:solidFill>
              </a:rPr>
              <a:t>Signal Tap captures of real codec data, amplitude-step noise: d and e (top), running NR and spectra (bottom).</a:t>
            </a:r>
            <a:endParaRPr lang="en-US" sz="1100" dirty="0"/>
          </a:p>
        </p:txBody>
      </p:sp>
      <p:sp>
        <p:nvSpPr>
          <p:cNvPr id="5" name="Text 2"/>
          <p:cNvSpPr txBox="1"/>
          <p:nvPr/>
        </p:nvSpPr>
        <p:spPr>
          <a:xfrm>
            <a:off x="7909560" y="1325880"/>
            <a:ext cx="37033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25</a:t>
            </a:r>
            <a:endParaRPr lang="en-US" sz="3200" dirty="0"/>
          </a:p>
        </p:txBody>
      </p:sp>
      <p:sp>
        <p:nvSpPr>
          <p:cNvPr id="6" name="Text 3"/>
          <p:cNvSpPr txBox="1"/>
          <p:nvPr/>
        </p:nvSpPr>
        <p:spPr>
          <a:xfrm>
            <a:off x="7909560" y="1856232"/>
            <a:ext cx="3703320" cy="365760"/>
          </a:xfrm>
          <a:prstGeom prst="rect">
            <a:avLst/>
          </a:prstGeom>
          <a:noFill/>
          <a:ln/>
        </p:spPr>
        <p:txBody>
          <a:bodyPr wrap="square" lIns="0" tIns="0" rIns="0" bIns="0" rtlCol="0" anchor="t"/>
          <a:lstStyle/>
          <a:p>
            <a:pPr indent="0" marL="0">
              <a:buNone/>
            </a:pPr>
            <a:r>
              <a:rPr lang="en-US" sz="1400" dirty="0">
                <a:solidFill>
                  <a:schemeClr val="tx1"/>
                </a:solidFill>
              </a:rPr>
              <a:t>Signal Tap captures, 3 algorithms, 2 sessions</a:t>
            </a:r>
            <a:endParaRPr lang="en-US" sz="1400" dirty="0"/>
          </a:p>
        </p:txBody>
      </p:sp>
      <p:sp>
        <p:nvSpPr>
          <p:cNvPr id="7" name="Text 4"/>
          <p:cNvSpPr txBox="1"/>
          <p:nvPr/>
        </p:nvSpPr>
        <p:spPr>
          <a:xfrm>
            <a:off x="7909560" y="2286000"/>
            <a:ext cx="37033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724,459</a:t>
            </a:r>
            <a:endParaRPr lang="en-US" sz="3200" dirty="0"/>
          </a:p>
        </p:txBody>
      </p:sp>
      <p:sp>
        <p:nvSpPr>
          <p:cNvPr id="8" name="Text 5"/>
          <p:cNvSpPr txBox="1"/>
          <p:nvPr/>
        </p:nvSpPr>
        <p:spPr>
          <a:xfrm>
            <a:off x="7909560" y="2816352"/>
            <a:ext cx="3703320" cy="365760"/>
          </a:xfrm>
          <a:prstGeom prst="rect">
            <a:avLst/>
          </a:prstGeom>
          <a:noFill/>
          <a:ln/>
        </p:spPr>
        <p:txBody>
          <a:bodyPr wrap="square" lIns="0" tIns="0" rIns="0" bIns="0" rtlCol="0" anchor="t"/>
          <a:lstStyle/>
          <a:p>
            <a:pPr indent="0" marL="0">
              <a:buNone/>
            </a:pPr>
            <a:r>
              <a:rPr lang="en-US" sz="1400" dirty="0">
                <a:solidFill>
                  <a:schemeClr val="tx1"/>
                </a:solidFill>
              </a:rPr>
              <a:t>output samples compared with the integer model</a:t>
            </a:r>
            <a:endParaRPr lang="en-US" sz="1400" dirty="0"/>
          </a:p>
        </p:txBody>
      </p:sp>
      <p:sp>
        <p:nvSpPr>
          <p:cNvPr id="9" name="Text 6"/>
          <p:cNvSpPr txBox="1"/>
          <p:nvPr/>
        </p:nvSpPr>
        <p:spPr>
          <a:xfrm>
            <a:off x="7909560" y="3246120"/>
            <a:ext cx="3703320" cy="54864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0</a:t>
            </a:r>
            <a:endParaRPr lang="en-US" sz="3200" dirty="0"/>
          </a:p>
        </p:txBody>
      </p:sp>
      <p:sp>
        <p:nvSpPr>
          <p:cNvPr id="10" name="Text 7"/>
          <p:cNvSpPr txBox="1"/>
          <p:nvPr/>
        </p:nvSpPr>
        <p:spPr>
          <a:xfrm>
            <a:off x="7909560" y="3776472"/>
            <a:ext cx="3703320" cy="365760"/>
          </a:xfrm>
          <a:prstGeom prst="rect">
            <a:avLst/>
          </a:prstGeom>
          <a:noFill/>
          <a:ln/>
        </p:spPr>
        <p:txBody>
          <a:bodyPr wrap="square" lIns="0" tIns="0" rIns="0" bIns="0" rtlCol="0" anchor="t"/>
          <a:lstStyle/>
          <a:p>
            <a:pPr indent="0" marL="0">
              <a:buNone/>
            </a:pPr>
            <a:r>
              <a:rPr lang="en-US" sz="1400" dirty="0">
                <a:solidFill>
                  <a:schemeClr val="tx1"/>
                </a:solidFill>
              </a:rPr>
              <a:t>mismatches</a:t>
            </a:r>
            <a:endParaRPr lang="en-US" sz="1400" dirty="0"/>
          </a:p>
        </p:txBody>
      </p:sp>
      <p:sp>
        <p:nvSpPr>
          <p:cNvPr id="11" name="Timing card"/>
          <p:cNvSpPr/>
          <p:nvPr/>
        </p:nvSpPr>
        <p:spPr>
          <a:xfrm>
            <a:off x="7909560" y="4297680"/>
            <a:ext cx="3703320" cy="1874520"/>
          </a:xfrm>
          <a:prstGeom prst="roundRect">
            <a:avLst>
              <a:gd name="adj" fmla="val 3902"/>
            </a:avLst>
          </a:prstGeom>
          <a:solidFill>
            <a:schemeClr val="bg2"/>
          </a:solidFill>
          <a:ln w="12700">
            <a:solidFill>
              <a:schemeClr val="bg2"/>
            </a:solidFill>
            <a:prstDash val="solid"/>
          </a:ln>
        </p:spPr>
      </p:sp>
      <p:sp>
        <p:nvSpPr>
          <p:cNvPr id="12" name="Text 9"/>
          <p:cNvSpPr txBox="1"/>
          <p:nvPr/>
        </p:nvSpPr>
        <p:spPr>
          <a:xfrm>
            <a:off x="8138160" y="4434840"/>
            <a:ext cx="3291840" cy="320040"/>
          </a:xfrm>
          <a:prstGeom prst="rect">
            <a:avLst/>
          </a:prstGeom>
          <a:noFill/>
          <a:ln/>
        </p:spPr>
        <p:txBody>
          <a:bodyPr wrap="square" lIns="0" tIns="0" rIns="0" bIns="0" rtlCol="0" anchor="t"/>
          <a:lstStyle/>
          <a:p>
            <a:pPr indent="0" marL="0">
              <a:buNone/>
            </a:pPr>
            <a:r>
              <a:rPr lang="en-US" sz="1500" b="1" dirty="0">
                <a:solidFill>
                  <a:schemeClr val="tx2"/>
                </a:solidFill>
              </a:rPr>
              <a:t>GPIO timing (LMS / NLMS / Shift)</a:t>
            </a:r>
            <a:endParaRPr lang="en-US" sz="1500" dirty="0"/>
          </a:p>
        </p:txBody>
      </p:sp>
      <p:sp>
        <p:nvSpPr>
          <p:cNvPr id="13" name="Text 10"/>
          <p:cNvSpPr txBox="1"/>
          <p:nvPr/>
        </p:nvSpPr>
        <p:spPr>
          <a:xfrm>
            <a:off x="8138160" y="4800600"/>
            <a:ext cx="338328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6,144 cycles per sample = 8,138.02 Hz</a:t>
            </a:r>
            <a:endParaRPr lang="en-US" sz="1400" dirty="0"/>
          </a:p>
          <a:p>
            <a:pPr marL="342900" indent="-342900">
              <a:spcAft>
                <a:spcPts val="400"/>
              </a:spcAft>
              <a:buSzPct val="100000"/>
              <a:buChar char="•"/>
            </a:pPr>
            <a:r>
              <a:rPr lang="en-US" sz="1400" dirty="0">
                <a:solidFill>
                  <a:schemeClr val="tx1"/>
                </a:solidFill>
              </a:rPr>
              <a:t>in → out: 36 / 38 / 38 cycles</a:t>
            </a:r>
            <a:endParaRPr lang="en-US" sz="1400" dirty="0"/>
          </a:p>
          <a:p>
            <a:pPr marL="342900" indent="-342900">
              <a:spcAft>
                <a:spcPts val="400"/>
              </a:spcAft>
              <a:buSzPct val="100000"/>
              <a:buChar char="•"/>
            </a:pPr>
            <a:r>
              <a:rPr lang="en-US" sz="1400" dirty="0">
                <a:solidFill>
                  <a:schemeClr val="tx1"/>
                </a:solidFill>
              </a:rPr>
              <a:t>busy: 73 / 130 / 72 cycles, as in RTL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Board NR equals the model at the board's input level</a:t>
            </a:r>
            <a:endParaRPr lang="en-US" sz="3200" dirty="0"/>
          </a:p>
        </p:txBody>
      </p:sp>
      <p:pic>
        <p:nvPicPr>
          <p:cNvPr id="3" name="Board vs model figure" descr="img/fig15_board_vs_model_stationary.png">    </p:cNvPr>
          <p:cNvPicPr>
            <a:picLocks noChangeAspect="1"/>
          </p:cNvPicPr>
          <p:nvPr/>
        </p:nvPicPr>
        <p:blipFill>
          <a:blip r:embed="rId1"/>
          <a:stretch>
            <a:fillRect/>
          </a:stretch>
        </p:blipFill>
        <p:spPr>
          <a:xfrm>
            <a:off x="548640" y="1234440"/>
            <a:ext cx="11064240" cy="3995928"/>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5257800"/>
          <a:ext cx="6766560" cy="914400"/>
        </p:xfrm>
        <a:graphic>
          <a:graphicData uri="http://schemas.openxmlformats.org/drawingml/2006/table">
            <a:tbl>
              <a:tblPr/>
              <a:tblGrid>
                <a:gridCol w="2103120"/>
                <a:gridCol w="1097280"/>
                <a:gridCol w="1737360"/>
                <a:gridCol w="1828800"/>
              </a:tblGrid>
              <a:tr h="265176">
                <a:tc>
                  <a:txBody>
                    <a:bodyPr/>
                    <a:lstStyle/>
                    <a:p>
                      <a:pPr indent="0" marL="0">
                        <a:buNone/>
                      </a:pPr>
                      <a:r>
                        <a:rPr lang="en-US" sz="1200" b="1" dirty="0">
                          <a:solidFill>
                            <a:srgbClr val="FFFFFF"/>
                          </a:solidFill>
                        </a:rPr>
                        <a:t>Stationary, final NR (dB)</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200" b="1" dirty="0">
                          <a:solidFill>
                            <a:srgbClr val="FFFFFF"/>
                          </a:solidFill>
                        </a:rPr>
                        <a:t>Board</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200" b="1" dirty="0">
                          <a:solidFill>
                            <a:srgbClr val="FFFFFF"/>
                          </a:solidFill>
                        </a:rPr>
                        <a:t>Model, sim level</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200" b="1" dirty="0">
                          <a:solidFill>
                            <a:srgbClr val="FFFFFF"/>
                          </a:solidFill>
                        </a:rPr>
                        <a:t>Model, board level</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r>
              <a:tr h="265176">
                <a:tc>
                  <a:txBody>
                    <a:bodyPr/>
                    <a:lstStyle/>
                    <a:p>
                      <a:pPr algn="l" indent="0" marL="0">
                        <a:buNone/>
                      </a:pPr>
                      <a:r>
                        <a:rPr lang="en-US" sz="1200" dirty="0">
                          <a:solidFill>
                            <a:srgbClr val="1B2430"/>
                          </a:solidFill>
                        </a:rPr>
                        <a:t>LMS</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200" b="1" dirty="0">
                          <a:solidFill>
                            <a:srgbClr val="1B2430"/>
                          </a:solidFill>
                        </a:rPr>
                        <a:t>15.88</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200" dirty="0">
                          <a:solidFill>
                            <a:srgbClr val="1B2430"/>
                          </a:solidFill>
                        </a:rPr>
                        <a:t>22.77</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200" b="1" dirty="0">
                          <a:solidFill>
                            <a:srgbClr val="1B2430"/>
                          </a:solidFill>
                        </a:rPr>
                        <a:t>15.76</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265176">
                <a:tc>
                  <a:txBody>
                    <a:bodyPr/>
                    <a:lstStyle/>
                    <a:p>
                      <a:pPr algn="l" indent="0" marL="0">
                        <a:buNone/>
                      </a:pPr>
                      <a:r>
                        <a:rPr lang="en-US" sz="1200" dirty="0">
                          <a:solidFill>
                            <a:srgbClr val="1B2430"/>
                          </a:solidFill>
                        </a:rPr>
                        <a:t>NLMS</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430"/>
                          </a:solidFill>
                        </a:rPr>
                        <a:t>15.65</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30"/>
                          </a:solidFill>
                        </a:rPr>
                        <a:t>21.60</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430"/>
                          </a:solidFill>
                        </a:rPr>
                        <a:t>15.53</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265176">
                <a:tc>
                  <a:txBody>
                    <a:bodyPr/>
                    <a:lstStyle/>
                    <a:p>
                      <a:pPr algn="l" indent="0" marL="0">
                        <a:buNone/>
                      </a:pPr>
                      <a:r>
                        <a:rPr lang="en-US" sz="1200" dirty="0">
                          <a:solidFill>
                            <a:srgbClr val="1B2430"/>
                          </a:solidFill>
                        </a:rPr>
                        <a:t>NLMS-Shift</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200" b="1" dirty="0">
                          <a:solidFill>
                            <a:srgbClr val="1B2430"/>
                          </a:solidFill>
                        </a:rPr>
                        <a:t>15.80</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200" dirty="0">
                          <a:solidFill>
                            <a:srgbClr val="1B2430"/>
                          </a:solidFill>
                        </a:rPr>
                        <a:t>22.68</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algn="ctr" indent="0" marL="0">
                        <a:buNone/>
                      </a:pPr>
                      <a:r>
                        <a:rPr lang="en-US" sz="1200" b="1" dirty="0">
                          <a:solidFill>
                            <a:srgbClr val="1B2430"/>
                          </a:solidFill>
                        </a:rPr>
                        <a:t>15.78</a:t>
                      </a:r>
                      <a:endParaRPr lang="en-US" sz="1200" dirty="0"/>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bl>
          </a:graphicData>
        </a:graphic>
      </p:graphicFrame>
      <p:sp>
        <p:nvSpPr>
          <p:cNvPr id="5" name="Text 1"/>
          <p:cNvSpPr txBox="1"/>
          <p:nvPr/>
        </p:nvSpPr>
        <p:spPr>
          <a:xfrm>
            <a:off x="7589520" y="5257800"/>
            <a:ext cx="4023360" cy="1097280"/>
          </a:xfrm>
          <a:prstGeom prst="rect">
            <a:avLst/>
          </a:prstGeom>
          <a:noFill/>
          <a:ln/>
        </p:spPr>
        <p:txBody>
          <a:bodyPr wrap="square" lIns="0" tIns="0" rIns="0" bIns="0" rtlCol="0" anchor="t"/>
          <a:lstStyle/>
          <a:p>
            <a:pPr indent="0" marL="0">
              <a:buNone/>
            </a:pPr>
            <a:r>
              <a:rPr lang="en-US" sz="1300" b="1" dirty="0">
                <a:solidFill>
                  <a:schemeClr val="tx2"/>
                </a:solidFill>
              </a:rPr>
              <a:t>Why lower than simulation? </a:t>
            </a:r>
            <a:pPr indent="0" marL="0">
              <a:buNone/>
            </a:pPr>
            <a:r>
              <a:rPr lang="en-US" sz="1300" dirty="0">
                <a:solidFill>
                  <a:schemeClr val="tx1"/>
                </a:solidFill>
              </a:rPr>
              <a:t>The codec delivered x and d at about −27 dBFS, 3 dB below the simulation level, so adaptation is slower. Level-matched, the model agrees within 0.2 dB (stationary, path switch).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Freeze, DAC word and a 10-minute soak all pass</a:t>
            </a:r>
            <a:endParaRPr lang="en-US" sz="3200" dirty="0"/>
          </a:p>
        </p:txBody>
      </p:sp>
      <p:sp>
        <p:nvSpPr>
          <p:cNvPr id="3" name="Check Freeze switch"/>
          <p:cNvSpPr/>
          <p:nvPr/>
        </p:nvSpPr>
        <p:spPr>
          <a:xfrm>
            <a:off x="548640" y="1371600"/>
            <a:ext cx="5440680" cy="2103120"/>
          </a:xfrm>
          <a:prstGeom prst="roundRect">
            <a:avLst>
              <a:gd name="adj" fmla="val 3478"/>
            </a:avLst>
          </a:prstGeom>
          <a:solidFill>
            <a:schemeClr val="bg2"/>
          </a:solidFill>
          <a:ln w="12700">
            <a:solidFill>
              <a:schemeClr val="bg2"/>
            </a:solidFill>
            <a:prstDash val="solid"/>
          </a:ln>
        </p:spPr>
      </p:sp>
      <p:sp>
        <p:nvSpPr>
          <p:cNvPr id="4" name="Freeze switch circle"/>
          <p:cNvSpPr/>
          <p:nvPr/>
        </p:nvSpPr>
        <p:spPr>
          <a:xfrm>
            <a:off x="822960" y="1645920"/>
            <a:ext cx="640080" cy="640080"/>
          </a:xfrm>
          <a:prstGeom prst="ellipse">
            <a:avLst/>
          </a:prstGeom>
          <a:solidFill>
            <a:schemeClr val="accent1"/>
          </a:solidFill>
          <a:ln w="12700">
            <a:solidFill>
              <a:schemeClr val="accent1"/>
            </a:solidFill>
            <a:prstDash val="solid"/>
          </a:ln>
        </p:spPr>
      </p:sp>
      <p:pic>
        <p:nvPicPr>
          <p:cNvPr id="5" name="Freeze switch icon"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45920"/>
            <a:ext cx="3200400" cy="640080"/>
          </a:xfrm>
          <a:prstGeom prst="rect">
            <a:avLst/>
          </a:prstGeom>
          <a:noFill/>
          <a:ln/>
        </p:spPr>
        <p:txBody>
          <a:bodyPr wrap="square" lIns="0" tIns="0" rIns="0" bIns="0" rtlCol="0" anchor="ctr"/>
          <a:lstStyle/>
          <a:p>
            <a:pPr indent="0" marL="0">
              <a:buNone/>
            </a:pPr>
            <a:r>
              <a:rPr lang="en-US" sz="1900" b="1" dirty="0">
                <a:solidFill>
                  <a:schemeClr val="tx2"/>
                </a:solidFill>
              </a:rPr>
              <a:t>Freeze switch</a:t>
            </a:r>
            <a:endParaRPr lang="en-US" sz="1900" dirty="0"/>
          </a:p>
        </p:txBody>
      </p:sp>
      <p:sp>
        <p:nvSpPr>
          <p:cNvPr id="7" name="Freeze switch pass"/>
          <p:cNvSpPr/>
          <p:nvPr/>
        </p:nvSpPr>
        <p:spPr>
          <a:xfrm>
            <a:off x="4800600" y="1755648"/>
            <a:ext cx="914400" cy="411480"/>
          </a:xfrm>
          <a:prstGeom prst="roundRect">
            <a:avLst>
              <a:gd name="adj" fmla="val 17778"/>
            </a:avLst>
          </a:prstGeom>
          <a:solidFill>
            <a:srgbClr val="2CA02C"/>
          </a:solidFill>
          <a:ln w="12700">
            <a:solidFill>
              <a:srgbClr val="2CA02C"/>
            </a:solidFill>
            <a:prstDash val="solid"/>
          </a:ln>
        </p:spPr>
      </p:sp>
      <p:sp>
        <p:nvSpPr>
          <p:cNvPr id="8" name="Text 5"/>
          <p:cNvSpPr txBox="1"/>
          <p:nvPr/>
        </p:nvSpPr>
        <p:spPr>
          <a:xfrm>
            <a:off x="4800600" y="1755648"/>
            <a:ext cx="914400" cy="411480"/>
          </a:xfrm>
          <a:prstGeom prst="rect">
            <a:avLst/>
          </a:prstGeom>
          <a:noFill/>
          <a:ln/>
        </p:spPr>
        <p:txBody>
          <a:bodyPr wrap="square" lIns="0" tIns="0" rIns="0" bIns="0" rtlCol="0" anchor="ctr"/>
          <a:lstStyle/>
          <a:p>
            <a:pPr algn="ctr" indent="0" marL="0">
              <a:buNone/>
            </a:pPr>
            <a:r>
              <a:rPr lang="en-US" sz="1300" b="1" dirty="0">
                <a:solidFill>
                  <a:schemeClr val="bg1"/>
                </a:solidFill>
              </a:rPr>
              <a:t>PASS</a:t>
            </a:r>
            <a:endParaRPr lang="en-US" sz="1300" dirty="0"/>
          </a:p>
        </p:txBody>
      </p:sp>
      <p:sp>
        <p:nvSpPr>
          <p:cNvPr id="9" name="Text 6"/>
          <p:cNvSpPr txBox="1"/>
          <p:nvPr/>
        </p:nvSpPr>
        <p:spPr>
          <a:xfrm>
            <a:off x="822960" y="2423160"/>
            <a:ext cx="4937760" cy="640080"/>
          </a:xfrm>
          <a:prstGeom prst="rect">
            <a:avLst/>
          </a:prstGeom>
          <a:noFill/>
          <a:ln/>
        </p:spPr>
        <p:txBody>
          <a:bodyPr wrap="square" lIns="0" tIns="0" rIns="0" bIns="0" rtlCol="0" anchor="t"/>
          <a:lstStyle/>
          <a:p>
            <a:pPr indent="0" marL="0">
              <a:buNone/>
            </a:pPr>
            <a:r>
              <a:rPr lang="en-US" sz="1400" dirty="0">
                <a:solidFill>
                  <a:schemeClr val="tx1"/>
                </a:solidFill>
              </a:rPr>
              <a:t>SW[1] flipped 1.44 s into the scenario. Output is bit-exact with adaptation stopped from that sample.</a:t>
            </a:r>
            <a:endParaRPr lang="en-US" sz="1400" dirty="0"/>
          </a:p>
        </p:txBody>
      </p:sp>
      <p:sp>
        <p:nvSpPr>
          <p:cNvPr id="10" name="Text 7"/>
          <p:cNvSpPr txBox="1"/>
          <p:nvPr/>
        </p:nvSpPr>
        <p:spPr>
          <a:xfrm>
            <a:off x="822960" y="2971800"/>
            <a:ext cx="4937760" cy="365760"/>
          </a:xfrm>
          <a:prstGeom prst="rect">
            <a:avLst/>
          </a:prstGeom>
          <a:noFill/>
          <a:ln/>
        </p:spPr>
        <p:txBody>
          <a:bodyPr wrap="square" lIns="0" tIns="0" rIns="0" bIns="0" rtlCol="0" anchor="t"/>
          <a:lstStyle/>
          <a:p>
            <a:pPr indent="0" marL="0">
              <a:buNone/>
            </a:pPr>
            <a:r>
              <a:rPr lang="en-US" sz="1400" b="1" dirty="0">
                <a:solidFill>
                  <a:schemeClr val="accent1"/>
                </a:solidFill>
              </a:rPr>
              <a:t>NR 15.4 → 15.2 dB frozen (15.9 dB if it had kept adapting)</a:t>
            </a:r>
            <a:endParaRPr lang="en-US" sz="1400" dirty="0"/>
          </a:p>
        </p:txBody>
      </p:sp>
      <p:sp>
        <p:nvSpPr>
          <p:cNvPr id="11" name="Check DAC word, ANC mode"/>
          <p:cNvSpPr/>
          <p:nvPr/>
        </p:nvSpPr>
        <p:spPr>
          <a:xfrm>
            <a:off x="6172200" y="1371600"/>
            <a:ext cx="5440680" cy="2103120"/>
          </a:xfrm>
          <a:prstGeom prst="roundRect">
            <a:avLst>
              <a:gd name="adj" fmla="val 3478"/>
            </a:avLst>
          </a:prstGeom>
          <a:solidFill>
            <a:schemeClr val="bg2"/>
          </a:solidFill>
          <a:ln w="12700">
            <a:solidFill>
              <a:schemeClr val="bg2"/>
            </a:solidFill>
            <a:prstDash val="solid"/>
          </a:ln>
        </p:spPr>
      </p:sp>
      <p:sp>
        <p:nvSpPr>
          <p:cNvPr id="12" name="DAC word, ANC mode circle"/>
          <p:cNvSpPr/>
          <p:nvPr/>
        </p:nvSpPr>
        <p:spPr>
          <a:xfrm>
            <a:off x="6446520" y="1645920"/>
            <a:ext cx="640080" cy="640080"/>
          </a:xfrm>
          <a:prstGeom prst="ellipse">
            <a:avLst/>
          </a:prstGeom>
          <a:solidFill>
            <a:schemeClr val="accent1"/>
          </a:solidFill>
          <a:ln w="12700">
            <a:solidFill>
              <a:schemeClr val="accent1"/>
            </a:solidFill>
            <a:prstDash val="solid"/>
          </a:ln>
        </p:spPr>
      </p:sp>
      <p:pic>
        <p:nvPicPr>
          <p:cNvPr id="13" name="DAC word, ANC mode icon" descr="preencoded.png">    </p:cNvPr>
          <p:cNvPicPr>
            <a:picLocks noChangeAspect="1"/>
          </p:cNvPicPr>
          <p:nvPr/>
        </p:nvPicPr>
        <p:blipFill>
          <a:blip r:embed="rId2"/>
          <a:stretch>
            <a:fillRect/>
          </a:stretch>
        </p:blipFill>
        <p:spPr>
          <a:xfrm>
            <a:off x="6606540" y="1805940"/>
            <a:ext cx="320040" cy="320040"/>
          </a:xfrm>
          <a:prstGeom prst="rect">
            <a:avLst/>
          </a:prstGeom>
        </p:spPr>
      </p:pic>
      <p:sp>
        <p:nvSpPr>
          <p:cNvPr id="14" name="Text 10"/>
          <p:cNvSpPr txBox="1"/>
          <p:nvPr/>
        </p:nvSpPr>
        <p:spPr>
          <a:xfrm>
            <a:off x="7269480" y="1645920"/>
            <a:ext cx="3200400" cy="640080"/>
          </a:xfrm>
          <a:prstGeom prst="rect">
            <a:avLst/>
          </a:prstGeom>
          <a:noFill/>
          <a:ln/>
        </p:spPr>
        <p:txBody>
          <a:bodyPr wrap="square" lIns="0" tIns="0" rIns="0" bIns="0" rtlCol="0" anchor="ctr"/>
          <a:lstStyle/>
          <a:p>
            <a:pPr indent="0" marL="0">
              <a:buNone/>
            </a:pPr>
            <a:r>
              <a:rPr lang="en-US" sz="1900" b="1" dirty="0">
                <a:solidFill>
                  <a:schemeClr val="tx2"/>
                </a:solidFill>
              </a:rPr>
              <a:t>DAC word, ANC mode</a:t>
            </a:r>
            <a:endParaRPr lang="en-US" sz="1900" dirty="0"/>
          </a:p>
        </p:txBody>
      </p:sp>
      <p:sp>
        <p:nvSpPr>
          <p:cNvPr id="15" name="DAC word, ANC mode pass"/>
          <p:cNvSpPr/>
          <p:nvPr/>
        </p:nvSpPr>
        <p:spPr>
          <a:xfrm>
            <a:off x="10424160" y="1755648"/>
            <a:ext cx="914400" cy="411480"/>
          </a:xfrm>
          <a:prstGeom prst="roundRect">
            <a:avLst>
              <a:gd name="adj" fmla="val 17778"/>
            </a:avLst>
          </a:prstGeom>
          <a:solidFill>
            <a:srgbClr val="2CA02C"/>
          </a:solidFill>
          <a:ln w="12700">
            <a:solidFill>
              <a:srgbClr val="2CA02C"/>
            </a:solidFill>
            <a:prstDash val="solid"/>
          </a:ln>
        </p:spPr>
      </p:sp>
      <p:sp>
        <p:nvSpPr>
          <p:cNvPr id="16" name="Text 12"/>
          <p:cNvSpPr txBox="1"/>
          <p:nvPr/>
        </p:nvSpPr>
        <p:spPr>
          <a:xfrm>
            <a:off x="10424160" y="1755648"/>
            <a:ext cx="914400" cy="411480"/>
          </a:xfrm>
          <a:prstGeom prst="rect">
            <a:avLst/>
          </a:prstGeom>
          <a:noFill/>
          <a:ln/>
        </p:spPr>
        <p:txBody>
          <a:bodyPr wrap="square" lIns="0" tIns="0" rIns="0" bIns="0" rtlCol="0" anchor="ctr"/>
          <a:lstStyle/>
          <a:p>
            <a:pPr algn="ctr" indent="0" marL="0">
              <a:buNone/>
            </a:pPr>
            <a:r>
              <a:rPr lang="en-US" sz="1300" b="1" dirty="0">
                <a:solidFill>
                  <a:schemeClr val="bg1"/>
                </a:solidFill>
              </a:rPr>
              <a:t>PASS</a:t>
            </a:r>
            <a:endParaRPr lang="en-US" sz="1300" dirty="0"/>
          </a:p>
        </p:txBody>
      </p:sp>
      <p:sp>
        <p:nvSpPr>
          <p:cNvPr id="17" name="Text 13"/>
          <p:cNvSpPr txBox="1"/>
          <p:nvPr/>
        </p:nvSpPr>
        <p:spPr>
          <a:xfrm>
            <a:off x="6446520" y="2423160"/>
            <a:ext cx="4937760" cy="640080"/>
          </a:xfrm>
          <a:prstGeom prst="rect">
            <a:avLst/>
          </a:prstGeom>
          <a:noFill/>
          <a:ln/>
        </p:spPr>
        <p:txBody>
          <a:bodyPr wrap="square" lIns="0" tIns="0" rIns="0" bIns="0" rtlCol="0" anchor="t"/>
          <a:lstStyle/>
          <a:p>
            <a:pPr indent="0" marL="0">
              <a:buNone/>
            </a:pPr>
            <a:r>
              <a:rPr lang="en-US" sz="1400" dirty="0">
                <a:solidFill>
                  <a:schemeClr val="tx1"/>
                </a:solidFill>
              </a:rPr>
              <a:t>With SW[0] = 0, the word sent to the DAC equals {e, 0000}.</a:t>
            </a:r>
            <a:endParaRPr lang="en-US" sz="1400" dirty="0"/>
          </a:p>
        </p:txBody>
      </p:sp>
      <p:sp>
        <p:nvSpPr>
          <p:cNvPr id="18" name="Text 14"/>
          <p:cNvSpPr txBox="1"/>
          <p:nvPr/>
        </p:nvSpPr>
        <p:spPr>
          <a:xfrm>
            <a:off x="6446520" y="2971800"/>
            <a:ext cx="4937760" cy="365760"/>
          </a:xfrm>
          <a:prstGeom prst="rect">
            <a:avLst/>
          </a:prstGeom>
          <a:noFill/>
          <a:ln/>
        </p:spPr>
        <p:txBody>
          <a:bodyPr wrap="square" lIns="0" tIns="0" rIns="0" bIns="0" rtlCol="0" anchor="t"/>
          <a:lstStyle/>
          <a:p>
            <a:pPr indent="0" marL="0">
              <a:buNone/>
            </a:pPr>
            <a:r>
              <a:rPr lang="en-US" sz="1400" b="1" dirty="0">
                <a:solidFill>
                  <a:schemeClr val="accent1"/>
                </a:solidFill>
              </a:rPr>
              <a:t>1,792 / 1,792 samples match</a:t>
            </a:r>
            <a:endParaRPr lang="en-US" sz="1400" dirty="0"/>
          </a:p>
        </p:txBody>
      </p:sp>
      <p:sp>
        <p:nvSpPr>
          <p:cNvPr id="19" name="Check DAC word, bypass"/>
          <p:cNvSpPr/>
          <p:nvPr/>
        </p:nvSpPr>
        <p:spPr>
          <a:xfrm>
            <a:off x="548640" y="3703320"/>
            <a:ext cx="5440680" cy="2103120"/>
          </a:xfrm>
          <a:prstGeom prst="roundRect">
            <a:avLst>
              <a:gd name="adj" fmla="val 3478"/>
            </a:avLst>
          </a:prstGeom>
          <a:solidFill>
            <a:schemeClr val="bg2"/>
          </a:solidFill>
          <a:ln w="12700">
            <a:solidFill>
              <a:schemeClr val="bg2"/>
            </a:solidFill>
            <a:prstDash val="solid"/>
          </a:ln>
        </p:spPr>
      </p:sp>
      <p:sp>
        <p:nvSpPr>
          <p:cNvPr id="20" name="DAC word, bypass circle"/>
          <p:cNvSpPr/>
          <p:nvPr/>
        </p:nvSpPr>
        <p:spPr>
          <a:xfrm>
            <a:off x="822960" y="3977640"/>
            <a:ext cx="640080" cy="640080"/>
          </a:xfrm>
          <a:prstGeom prst="ellipse">
            <a:avLst/>
          </a:prstGeom>
          <a:solidFill>
            <a:schemeClr val="accent1"/>
          </a:solidFill>
          <a:ln w="12700">
            <a:solidFill>
              <a:schemeClr val="accent1"/>
            </a:solidFill>
            <a:prstDash val="solid"/>
          </a:ln>
        </p:spPr>
      </p:sp>
      <p:pic>
        <p:nvPicPr>
          <p:cNvPr id="21" name="DAC word, bypass icon" descr="preencoded.png">    </p:cNvPr>
          <p:cNvPicPr>
            <a:picLocks noChangeAspect="1"/>
          </p:cNvPicPr>
          <p:nvPr/>
        </p:nvPicPr>
        <p:blipFill>
          <a:blip r:embed="rId3"/>
          <a:stretch>
            <a:fillRect/>
          </a:stretch>
        </p:blipFill>
        <p:spPr>
          <a:xfrm>
            <a:off x="982980" y="4137660"/>
            <a:ext cx="320040" cy="320040"/>
          </a:xfrm>
          <a:prstGeom prst="rect">
            <a:avLst/>
          </a:prstGeom>
        </p:spPr>
      </p:pic>
      <p:sp>
        <p:nvSpPr>
          <p:cNvPr id="22" name="Text 17"/>
          <p:cNvSpPr txBox="1"/>
          <p:nvPr/>
        </p:nvSpPr>
        <p:spPr>
          <a:xfrm>
            <a:off x="1645920" y="3977640"/>
            <a:ext cx="3200400" cy="640080"/>
          </a:xfrm>
          <a:prstGeom prst="rect">
            <a:avLst/>
          </a:prstGeom>
          <a:noFill/>
          <a:ln/>
        </p:spPr>
        <p:txBody>
          <a:bodyPr wrap="square" lIns="0" tIns="0" rIns="0" bIns="0" rtlCol="0" anchor="ctr"/>
          <a:lstStyle/>
          <a:p>
            <a:pPr indent="0" marL="0">
              <a:buNone/>
            </a:pPr>
            <a:r>
              <a:rPr lang="en-US" sz="1900" b="1" dirty="0">
                <a:solidFill>
                  <a:schemeClr val="tx2"/>
                </a:solidFill>
              </a:rPr>
              <a:t>DAC word, bypass</a:t>
            </a:r>
            <a:endParaRPr lang="en-US" sz="1900" dirty="0"/>
          </a:p>
        </p:txBody>
      </p:sp>
      <p:sp>
        <p:nvSpPr>
          <p:cNvPr id="23" name="DAC word, bypass pass"/>
          <p:cNvSpPr/>
          <p:nvPr/>
        </p:nvSpPr>
        <p:spPr>
          <a:xfrm>
            <a:off x="4800600" y="4087368"/>
            <a:ext cx="914400" cy="411480"/>
          </a:xfrm>
          <a:prstGeom prst="roundRect">
            <a:avLst>
              <a:gd name="adj" fmla="val 17778"/>
            </a:avLst>
          </a:prstGeom>
          <a:solidFill>
            <a:srgbClr val="2CA02C"/>
          </a:solidFill>
          <a:ln w="12700">
            <a:solidFill>
              <a:srgbClr val="2CA02C"/>
            </a:solidFill>
            <a:prstDash val="solid"/>
          </a:ln>
        </p:spPr>
      </p:sp>
      <p:sp>
        <p:nvSpPr>
          <p:cNvPr id="24" name="Text 19"/>
          <p:cNvSpPr txBox="1"/>
          <p:nvPr/>
        </p:nvSpPr>
        <p:spPr>
          <a:xfrm>
            <a:off x="4800600" y="4087368"/>
            <a:ext cx="914400" cy="411480"/>
          </a:xfrm>
          <a:prstGeom prst="rect">
            <a:avLst/>
          </a:prstGeom>
          <a:noFill/>
          <a:ln/>
        </p:spPr>
        <p:txBody>
          <a:bodyPr wrap="square" lIns="0" tIns="0" rIns="0" bIns="0" rtlCol="0" anchor="ctr"/>
          <a:lstStyle/>
          <a:p>
            <a:pPr algn="ctr" indent="0" marL="0">
              <a:buNone/>
            </a:pPr>
            <a:r>
              <a:rPr lang="en-US" sz="1300" b="1" dirty="0">
                <a:solidFill>
                  <a:schemeClr val="bg1"/>
                </a:solidFill>
              </a:rPr>
              <a:t>PASS</a:t>
            </a:r>
            <a:endParaRPr lang="en-US" sz="1300" dirty="0"/>
          </a:p>
        </p:txBody>
      </p:sp>
      <p:sp>
        <p:nvSpPr>
          <p:cNvPr id="25" name="Text 20"/>
          <p:cNvSpPr txBox="1"/>
          <p:nvPr/>
        </p:nvSpPr>
        <p:spPr>
          <a:xfrm>
            <a:off x="822960" y="4754880"/>
            <a:ext cx="4937760" cy="640080"/>
          </a:xfrm>
          <a:prstGeom prst="rect">
            <a:avLst/>
          </a:prstGeom>
          <a:noFill/>
          <a:ln/>
        </p:spPr>
        <p:txBody>
          <a:bodyPr wrap="square" lIns="0" tIns="0" rIns="0" bIns="0" rtlCol="0" anchor="t"/>
          <a:lstStyle/>
          <a:p>
            <a:pPr indent="0" marL="0">
              <a:buNone/>
            </a:pPr>
            <a:r>
              <a:rPr lang="en-US" sz="1400" dirty="0">
                <a:solidFill>
                  <a:schemeClr val="tx1"/>
                </a:solidFill>
              </a:rPr>
              <a:t>With SW[0] = 1, the top 12 bits of the DAC word equal d.</a:t>
            </a:r>
            <a:endParaRPr lang="en-US" sz="1400" dirty="0"/>
          </a:p>
        </p:txBody>
      </p:sp>
      <p:sp>
        <p:nvSpPr>
          <p:cNvPr id="26" name="Text 21"/>
          <p:cNvSpPr txBox="1"/>
          <p:nvPr/>
        </p:nvSpPr>
        <p:spPr>
          <a:xfrm>
            <a:off x="822960" y="5303520"/>
            <a:ext cx="4937760" cy="365760"/>
          </a:xfrm>
          <a:prstGeom prst="rect">
            <a:avLst/>
          </a:prstGeom>
          <a:noFill/>
          <a:ln/>
        </p:spPr>
        <p:txBody>
          <a:bodyPr wrap="square" lIns="0" tIns="0" rIns="0" bIns="0" rtlCol="0" anchor="t"/>
          <a:lstStyle/>
          <a:p>
            <a:pPr indent="0" marL="0">
              <a:buNone/>
            </a:pPr>
            <a:r>
              <a:rPr lang="en-US" sz="1400" b="1" dirty="0">
                <a:solidFill>
                  <a:schemeClr val="accent1"/>
                </a:solidFill>
              </a:rPr>
              <a:t>1,792 / 1,792 samples match</a:t>
            </a:r>
            <a:endParaRPr lang="en-US" sz="1400" dirty="0"/>
          </a:p>
        </p:txBody>
      </p:sp>
      <p:sp>
        <p:nvSpPr>
          <p:cNvPr id="27" name="Check 10-minute soak"/>
          <p:cNvSpPr/>
          <p:nvPr/>
        </p:nvSpPr>
        <p:spPr>
          <a:xfrm>
            <a:off x="6172200" y="3703320"/>
            <a:ext cx="5440680" cy="2103120"/>
          </a:xfrm>
          <a:prstGeom prst="roundRect">
            <a:avLst>
              <a:gd name="adj" fmla="val 3478"/>
            </a:avLst>
          </a:prstGeom>
          <a:solidFill>
            <a:schemeClr val="bg2"/>
          </a:solidFill>
          <a:ln w="12700">
            <a:solidFill>
              <a:schemeClr val="bg2"/>
            </a:solidFill>
            <a:prstDash val="solid"/>
          </a:ln>
        </p:spPr>
      </p:sp>
      <p:sp>
        <p:nvSpPr>
          <p:cNvPr id="28" name="10-minute soak circle"/>
          <p:cNvSpPr/>
          <p:nvPr/>
        </p:nvSpPr>
        <p:spPr>
          <a:xfrm>
            <a:off x="6446520" y="3977640"/>
            <a:ext cx="640080" cy="640080"/>
          </a:xfrm>
          <a:prstGeom prst="ellipse">
            <a:avLst/>
          </a:prstGeom>
          <a:solidFill>
            <a:schemeClr val="accent1"/>
          </a:solidFill>
          <a:ln w="12700">
            <a:solidFill>
              <a:schemeClr val="accent1"/>
            </a:solidFill>
            <a:prstDash val="solid"/>
          </a:ln>
        </p:spPr>
      </p:sp>
      <p:pic>
        <p:nvPicPr>
          <p:cNvPr id="29" name="10-minute soak icon" descr="preencoded.png">    </p:cNvPr>
          <p:cNvPicPr>
            <a:picLocks noChangeAspect="1"/>
          </p:cNvPicPr>
          <p:nvPr/>
        </p:nvPicPr>
        <p:blipFill>
          <a:blip r:embed="rId4"/>
          <a:stretch>
            <a:fillRect/>
          </a:stretch>
        </p:blipFill>
        <p:spPr>
          <a:xfrm>
            <a:off x="6606540" y="4137660"/>
            <a:ext cx="320040" cy="320040"/>
          </a:xfrm>
          <a:prstGeom prst="rect">
            <a:avLst/>
          </a:prstGeom>
        </p:spPr>
      </p:pic>
      <p:sp>
        <p:nvSpPr>
          <p:cNvPr id="30" name="Text 24"/>
          <p:cNvSpPr txBox="1"/>
          <p:nvPr/>
        </p:nvSpPr>
        <p:spPr>
          <a:xfrm>
            <a:off x="7269480" y="3977640"/>
            <a:ext cx="3200400" cy="640080"/>
          </a:xfrm>
          <a:prstGeom prst="rect">
            <a:avLst/>
          </a:prstGeom>
          <a:noFill/>
          <a:ln/>
        </p:spPr>
        <p:txBody>
          <a:bodyPr wrap="square" lIns="0" tIns="0" rIns="0" bIns="0" rtlCol="0" anchor="ctr"/>
          <a:lstStyle/>
          <a:p>
            <a:pPr indent="0" marL="0">
              <a:buNone/>
            </a:pPr>
            <a:r>
              <a:rPr lang="en-US" sz="1900" b="1" dirty="0">
                <a:solidFill>
                  <a:schemeClr val="tx2"/>
                </a:solidFill>
              </a:rPr>
              <a:t>10-minute soak</a:t>
            </a:r>
            <a:endParaRPr lang="en-US" sz="1900" dirty="0"/>
          </a:p>
        </p:txBody>
      </p:sp>
      <p:sp>
        <p:nvSpPr>
          <p:cNvPr id="31" name="10-minute soak pass"/>
          <p:cNvSpPr/>
          <p:nvPr/>
        </p:nvSpPr>
        <p:spPr>
          <a:xfrm>
            <a:off x="10424160" y="4087368"/>
            <a:ext cx="914400" cy="411480"/>
          </a:xfrm>
          <a:prstGeom prst="roundRect">
            <a:avLst>
              <a:gd name="adj" fmla="val 17778"/>
            </a:avLst>
          </a:prstGeom>
          <a:solidFill>
            <a:srgbClr val="2CA02C"/>
          </a:solidFill>
          <a:ln w="12700">
            <a:solidFill>
              <a:srgbClr val="2CA02C"/>
            </a:solidFill>
            <a:prstDash val="solid"/>
          </a:ln>
        </p:spPr>
      </p:sp>
      <p:sp>
        <p:nvSpPr>
          <p:cNvPr id="32" name="Text 26"/>
          <p:cNvSpPr txBox="1"/>
          <p:nvPr/>
        </p:nvSpPr>
        <p:spPr>
          <a:xfrm>
            <a:off x="10424160" y="4087368"/>
            <a:ext cx="914400" cy="411480"/>
          </a:xfrm>
          <a:prstGeom prst="rect">
            <a:avLst/>
          </a:prstGeom>
          <a:noFill/>
          <a:ln/>
        </p:spPr>
        <p:txBody>
          <a:bodyPr wrap="square" lIns="0" tIns="0" rIns="0" bIns="0" rtlCol="0" anchor="ctr"/>
          <a:lstStyle/>
          <a:p>
            <a:pPr algn="ctr" indent="0" marL="0">
              <a:buNone/>
            </a:pPr>
            <a:r>
              <a:rPr lang="en-US" sz="1300" b="1" dirty="0">
                <a:solidFill>
                  <a:schemeClr val="bg1"/>
                </a:solidFill>
              </a:rPr>
              <a:t>PASS</a:t>
            </a:r>
            <a:endParaRPr lang="en-US" sz="1300" dirty="0"/>
          </a:p>
        </p:txBody>
      </p:sp>
      <p:sp>
        <p:nvSpPr>
          <p:cNvPr id="33" name="Text 27"/>
          <p:cNvSpPr txBox="1"/>
          <p:nvPr/>
        </p:nvSpPr>
        <p:spPr>
          <a:xfrm>
            <a:off x="6446520" y="4754880"/>
            <a:ext cx="4937760" cy="640080"/>
          </a:xfrm>
          <a:prstGeom prst="rect">
            <a:avLst/>
          </a:prstGeom>
          <a:noFill/>
          <a:ln/>
        </p:spPr>
        <p:txBody>
          <a:bodyPr wrap="square" lIns="0" tIns="0" rIns="0" bIns="0" rtlCol="0" anchor="t"/>
          <a:lstStyle/>
          <a:p>
            <a:pPr indent="0" marL="0">
              <a:buNone/>
            </a:pPr>
            <a:r>
              <a:rPr lang="en-US" sz="1400" dirty="0">
                <a:solidFill>
                  <a:schemeClr val="tx1"/>
                </a:solidFill>
              </a:rPr>
              <a:t>Looped noise for 10 minutes; timing unchanged and no saturation, NACK or overrun flag.</a:t>
            </a:r>
            <a:endParaRPr lang="en-US" sz="1400" dirty="0"/>
          </a:p>
        </p:txBody>
      </p:sp>
      <p:sp>
        <p:nvSpPr>
          <p:cNvPr id="34" name="Text 28"/>
          <p:cNvSpPr txBox="1"/>
          <p:nvPr/>
        </p:nvSpPr>
        <p:spPr>
          <a:xfrm>
            <a:off x="6446520" y="5303520"/>
            <a:ext cx="4937760" cy="365760"/>
          </a:xfrm>
          <a:prstGeom prst="rect">
            <a:avLst/>
          </a:prstGeom>
          <a:noFill/>
          <a:ln/>
        </p:spPr>
        <p:txBody>
          <a:bodyPr wrap="square" lIns="0" tIns="0" rIns="0" bIns="0" rtlCol="0" anchor="t"/>
          <a:lstStyle/>
          <a:p>
            <a:pPr indent="0" marL="0">
              <a:buNone/>
            </a:pPr>
            <a:r>
              <a:rPr lang="en-US" sz="1400" b="1" dirty="0">
                <a:solidFill>
                  <a:schemeClr val="accent1"/>
                </a:solidFill>
              </a:rPr>
              <a:t>6,144 cycles/sample · 38 latency · 72 busy</a:t>
            </a:r>
            <a:endParaRPr lang="en-US" sz="1400" dirty="0"/>
          </a:p>
        </p:txBody>
      </p:sp>
      <p:sp>
        <p:nvSpPr>
          <p:cNvPr id="35" name="Text 29"/>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The analogue LINE OUT could not be recorded with the equipment available, so the proof stops at the DAC interface.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ULLAP sits among related work</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651760"/>
                <a:gridCol w="2926080"/>
                <a:gridCol w="2743200"/>
              </a:tblGrid>
              <a:tr h="530352">
                <a:tc>
                  <a:txBody>
                    <a:bodyPr/>
                    <a:lstStyle/>
                    <a:p>
                      <a:pPr indent="0" marL="0">
                        <a:buNone/>
                      </a:pPr>
                      <a:r>
                        <a:rPr lang="en-US" sz="1400" b="1" dirty="0">
                          <a:solidFill>
                            <a:srgbClr val="FFFFFF"/>
                          </a:solidFill>
                        </a:rPr>
                        <a:t>Work</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400" b="1" dirty="0">
                          <a:solidFill>
                            <a:srgbClr val="FFFFFF"/>
                          </a:solidFill>
                        </a:rPr>
                        <a:t>Platform</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400" b="1" dirty="0">
                          <a:solidFill>
                            <a:srgbClr val="FFFFFF"/>
                          </a:solidFill>
                        </a:rPr>
                        <a:t>Normaliser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c>
                  <a:txBody>
                    <a:bodyPr/>
                    <a:lstStyle/>
                    <a:p>
                      <a:pPr indent="0" marL="0">
                        <a:buNone/>
                      </a:pPr>
                      <a:r>
                        <a:rPr lang="en-US" sz="1400" b="1" dirty="0">
                          <a:solidFill>
                            <a:srgbClr val="FFFFFF"/>
                          </a:solidFill>
                        </a:rPr>
                        <a:t>Reported</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0D3B44"/>
                    </a:solidFill>
                  </a:tcPr>
                </a:tc>
              </a:tr>
              <a:tr h="530352">
                <a:tc>
                  <a:txBody>
                    <a:bodyPr/>
                    <a:lstStyle/>
                    <a:p>
                      <a:pPr indent="0" marL="0">
                        <a:buNone/>
                      </a:pPr>
                      <a:r>
                        <a:rPr lang="en-US" sz="1400" dirty="0">
                          <a:solidFill>
                            <a:srgbClr val="1B2430"/>
                          </a:solidFill>
                        </a:rPr>
                        <a:t>Garrett et al. 2002</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ASIC, NLMS equaliser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Power-of-two (leading-zero count)</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Origin of the shift idea</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530352">
                <a:tc>
                  <a:txBody>
                    <a:bodyPr/>
                    <a:lstStyle/>
                    <a:p>
                      <a:pPr indent="0" marL="0">
                        <a:buNone/>
                      </a:pPr>
                      <a:r>
                        <a:rPr lang="en-US" sz="1400" dirty="0">
                          <a:solidFill>
                            <a:srgbClr val="1B2430"/>
                          </a:solidFill>
                        </a:rPr>
                        <a:t>Zhao et al. 2018</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Virtex-7, beamformer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Quantised normaliser, CSD</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≥21% fewer LUTs vs divider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B2430"/>
                          </a:solidFill>
                        </a:rPr>
                        <a:t>Huang et al. 2024</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DE2-115, 16-tap FIR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4-bit LUT reciprocal</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10.52 vs 18.60 nJ/sample</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530352">
                <a:tc>
                  <a:txBody>
                    <a:bodyPr/>
                    <a:lstStyle/>
                    <a:p>
                      <a:pPr indent="0" marL="0">
                        <a:buNone/>
                      </a:pPr>
                      <a:r>
                        <a:rPr lang="en-US" sz="1400" dirty="0">
                          <a:solidFill>
                            <a:srgbClr val="1B2430"/>
                          </a:solidFill>
                        </a:rPr>
                        <a:t>Huang &amp; Yao 2026</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DE2-115, 5th-order IIR</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LOD + shift + 2-segment reciprocal</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5.07 vs 8.33 nJ/sample</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B2430"/>
                          </a:solidFill>
                        </a:rPr>
                        <a:t>Rodrigo &amp; Buddhika 2024 (base)</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MATLAB / Vivado sim</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LMS only</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c>
                  <a:txBody>
                    <a:bodyPr/>
                    <a:lstStyle/>
                    <a:p>
                      <a:pPr indent="0" marL="0">
                        <a:buNone/>
                      </a:pPr>
                      <a:r>
                        <a:rPr lang="en-US" sz="1400" dirty="0">
                          <a:solidFill>
                            <a:srgbClr val="1B2430"/>
                          </a:solidFill>
                        </a:rPr>
                        <a:t>No numeric results</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DF3F4"/>
                    </a:solidFill>
                  </a:tcPr>
                </a:tc>
              </a:tr>
              <a:tr h="530352">
                <a:tc>
                  <a:txBody>
                    <a:bodyPr/>
                    <a:lstStyle/>
                    <a:p>
                      <a:pPr indent="0" marL="0">
                        <a:buNone/>
                      </a:pPr>
                      <a:r>
                        <a:rPr lang="en-US" sz="1400" b="1" dirty="0">
                          <a:solidFill>
                            <a:srgbClr val="1B2430"/>
                          </a:solidFill>
                        </a:rPr>
                        <a:t>ULLAP (this work)</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CE9C8"/>
                    </a:solidFill>
                  </a:tcPr>
                </a:tc>
                <a:tc>
                  <a:txBody>
                    <a:bodyPr/>
                    <a:lstStyle/>
                    <a:p>
                      <a:pPr indent="0" marL="0">
                        <a:buNone/>
                      </a:pPr>
                      <a:r>
                        <a:rPr lang="en-US" sz="1400" b="1" dirty="0">
                          <a:solidFill>
                            <a:srgbClr val="1B2430"/>
                          </a:solidFill>
                        </a:rPr>
                        <a:t>DE2-115 + WM8731, 32-tap</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CE9C8"/>
                    </a:solidFill>
                  </a:tcPr>
                </a:tc>
                <a:tc>
                  <a:txBody>
                    <a:bodyPr/>
                    <a:lstStyle/>
                    <a:p>
                      <a:pPr indent="0" marL="0">
                        <a:buNone/>
                      </a:pPr>
                      <a:r>
                        <a:rPr lang="en-US" sz="1400" b="1" dirty="0">
                          <a:solidFill>
                            <a:srgbClr val="1B2430"/>
                          </a:solidFill>
                        </a:rPr>
                        <a:t>LMS | divider | shift, one core</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CE9C8"/>
                    </a:solidFill>
                  </a:tcPr>
                </a:tc>
                <a:tc>
                  <a:txBody>
                    <a:bodyPr/>
                    <a:lstStyle/>
                    <a:p>
                      <a:pPr indent="0" marL="0">
                        <a:buNone/>
                      </a:pPr>
                      <a:r>
                        <a:rPr lang="en-US" sz="1400" b="1" dirty="0">
                          <a:solidFill>
                            <a:srgbClr val="1B2430"/>
                          </a:solidFill>
                        </a:rPr>
                        <a:t>Equal tuning, 20-seed CI, bit-exact on board</a:t>
                      </a:r>
                      <a:endParaRPr lang="en-US" sz="1400" dirty="0"/>
                    </a:p>
                  </a:txBody>
                  <a:tcPr marL="91440" marR="91440"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CE9C8"/>
                    </a:solidFill>
                  </a:tcPr>
                </a:tc>
              </a:tr>
            </a:tbl>
          </a:graphicData>
        </a:graphic>
      </p:graphicFrame>
      <p:sp>
        <p:nvSpPr>
          <p:cNvPr id="4" name="Caveat card"/>
          <p:cNvSpPr/>
          <p:nvPr/>
        </p:nvSpPr>
        <p:spPr>
          <a:xfrm>
            <a:off x="548640" y="5349240"/>
            <a:ext cx="11064240" cy="822960"/>
          </a:xfrm>
          <a:prstGeom prst="roundRect">
            <a:avLst>
              <a:gd name="adj" fmla="val 8889"/>
            </a:avLst>
          </a:prstGeom>
          <a:solidFill>
            <a:schemeClr val="bg2"/>
          </a:solidFill>
          <a:ln w="12700">
            <a:solidFill>
              <a:schemeClr val="bg2"/>
            </a:solidFill>
            <a:prstDash val="solid"/>
          </a:ln>
        </p:spPr>
      </p:sp>
      <p:sp>
        <p:nvSpPr>
          <p:cNvPr id="5" name="Text 2"/>
          <p:cNvSpPr txBox="1"/>
          <p:nvPr/>
        </p:nvSpPr>
        <p:spPr>
          <a:xfrm>
            <a:off x="777240" y="5349240"/>
            <a:ext cx="10607040" cy="822960"/>
          </a:xfrm>
          <a:prstGeom prst="rect">
            <a:avLst/>
          </a:prstGeom>
          <a:noFill/>
          <a:ln/>
        </p:spPr>
        <p:txBody>
          <a:bodyPr wrap="square" lIns="0" tIns="0" rIns="0" bIns="0" rtlCol="0" anchor="ctr"/>
          <a:lstStyle/>
          <a:p>
            <a:pPr indent="0" marL="0">
              <a:buNone/>
            </a:pPr>
            <a:r>
              <a:rPr lang="en-US" sz="1400" b="1" dirty="0">
                <a:solidFill>
                  <a:schemeClr val="tx2"/>
                </a:solidFill>
              </a:rPr>
              <a:t>Not a head-to-head benchmark. </a:t>
            </a:r>
            <a:pPr indent="0" marL="0">
              <a:buNone/>
            </a:pPr>
            <a:r>
              <a:rPr lang="en-US" sz="1400" dirty="0">
                <a:solidFill>
                  <a:schemeClr val="tx1"/>
                </a:solidFill>
              </a:rPr>
              <a:t>Platforms, word lengths and tasks differ. What ULLAP adds is three variants on one core under equal tuning, with a codec and a bit-exact chain to the board. No energy comparison until gate-level power is done.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Limitations, stated plainly</a:t>
            </a:r>
            <a:endParaRPr lang="en-US" sz="3200" dirty="0"/>
          </a:p>
        </p:txBody>
      </p:sp>
      <p:sp>
        <p:nvSpPr>
          <p:cNvPr id="3" name="Not better than NLMS circle"/>
          <p:cNvSpPr/>
          <p:nvPr/>
        </p:nvSpPr>
        <p:spPr>
          <a:xfrm>
            <a:off x="548640" y="1508760"/>
            <a:ext cx="502920" cy="502920"/>
          </a:xfrm>
          <a:prstGeom prst="ellipse">
            <a:avLst/>
          </a:prstGeom>
          <a:solidFill>
            <a:schemeClr val="accent2"/>
          </a:solidFill>
          <a:ln w="12700">
            <a:solidFill>
              <a:schemeClr val="accent2"/>
            </a:solidFill>
            <a:prstDash val="solid"/>
          </a:ln>
        </p:spPr>
      </p:sp>
      <p:pic>
        <p:nvPicPr>
          <p:cNvPr id="4" name="Not better than NLMS icon" descr="preencoded.png">    </p:cNvPr>
          <p:cNvPicPr>
            <a:picLocks noChangeAspect="1"/>
          </p:cNvPicPr>
          <p:nvPr/>
        </p:nvPicPr>
        <p:blipFill>
          <a:blip r:embed="rId1"/>
          <a:stretch>
            <a:fillRect/>
          </a:stretch>
        </p:blipFill>
        <p:spPr>
          <a:xfrm>
            <a:off x="674370" y="1634490"/>
            <a:ext cx="251460" cy="251460"/>
          </a:xfrm>
          <a:prstGeom prst="rect">
            <a:avLst/>
          </a:prstGeom>
        </p:spPr>
      </p:pic>
      <p:sp>
        <p:nvSpPr>
          <p:cNvPr id="5" name="Text 2"/>
          <p:cNvSpPr txBox="1"/>
          <p:nvPr/>
        </p:nvSpPr>
        <p:spPr>
          <a:xfrm>
            <a:off x="1280160" y="1463040"/>
            <a:ext cx="4663440" cy="411480"/>
          </a:xfrm>
          <a:prstGeom prst="rect">
            <a:avLst/>
          </a:prstGeom>
          <a:noFill/>
          <a:ln/>
        </p:spPr>
        <p:txBody>
          <a:bodyPr wrap="square" lIns="0" tIns="0" rIns="0" bIns="0" rtlCol="0" anchor="ctr"/>
          <a:lstStyle/>
          <a:p>
            <a:pPr indent="0" marL="0">
              <a:buNone/>
            </a:pPr>
            <a:r>
              <a:rPr lang="en-US" sz="1700" b="1" dirty="0">
                <a:solidFill>
                  <a:schemeClr val="tx2"/>
                </a:solidFill>
              </a:rPr>
              <a:t>Not better than NLMS</a:t>
            </a:r>
            <a:endParaRPr lang="en-US" sz="1700" dirty="0"/>
          </a:p>
        </p:txBody>
      </p:sp>
      <p:sp>
        <p:nvSpPr>
          <p:cNvPr id="6" name="Text 3"/>
          <p:cNvSpPr txBox="1"/>
          <p:nvPr/>
        </p:nvSpPr>
        <p:spPr>
          <a:xfrm>
            <a:off x="1280160" y="1901952"/>
            <a:ext cx="4663440" cy="1005840"/>
          </a:xfrm>
          <a:prstGeom prst="rect">
            <a:avLst/>
          </a:prstGeom>
          <a:noFill/>
          <a:ln/>
        </p:spPr>
        <p:txBody>
          <a:bodyPr wrap="square" lIns="0" tIns="0" rIns="0" bIns="0" rtlCol="0" anchor="t"/>
          <a:lstStyle/>
          <a:p>
            <a:pPr indent="0" marL="0">
              <a:buNone/>
            </a:pPr>
            <a:r>
              <a:rPr lang="en-US" sz="1400" dirty="0">
                <a:solidFill>
                  <a:schemeClr val="tx1"/>
                </a:solidFill>
              </a:rPr>
              <a:t>NLMS-Shift matches NLMS in cancellation; it is NLMS with a level-dependent step (×0.5 to ×1). The idea is prior art.</a:t>
            </a:r>
            <a:endParaRPr lang="en-US" sz="1400" dirty="0"/>
          </a:p>
        </p:txBody>
      </p:sp>
      <p:sp>
        <p:nvSpPr>
          <p:cNvPr id="7" name="Simulated acoustic paths circle"/>
          <p:cNvSpPr/>
          <p:nvPr/>
        </p:nvSpPr>
        <p:spPr>
          <a:xfrm>
            <a:off x="6172200" y="1508760"/>
            <a:ext cx="502920" cy="502920"/>
          </a:xfrm>
          <a:prstGeom prst="ellipse">
            <a:avLst/>
          </a:prstGeom>
          <a:solidFill>
            <a:schemeClr val="accent2"/>
          </a:solidFill>
          <a:ln w="12700">
            <a:solidFill>
              <a:schemeClr val="accent2"/>
            </a:solidFill>
            <a:prstDash val="solid"/>
          </a:ln>
        </p:spPr>
      </p:sp>
      <p:pic>
        <p:nvPicPr>
          <p:cNvPr id="8" name="Simulated acoustic paths icon" descr="preencoded.png">    </p:cNvPr>
          <p:cNvPicPr>
            <a:picLocks noChangeAspect="1"/>
          </p:cNvPicPr>
          <p:nvPr/>
        </p:nvPicPr>
        <p:blipFill>
          <a:blip r:embed="rId2"/>
          <a:stretch>
            <a:fillRect/>
          </a:stretch>
        </p:blipFill>
        <p:spPr>
          <a:xfrm>
            <a:off x="6297930" y="1634490"/>
            <a:ext cx="251460" cy="251460"/>
          </a:xfrm>
          <a:prstGeom prst="rect">
            <a:avLst/>
          </a:prstGeom>
        </p:spPr>
      </p:pic>
      <p:sp>
        <p:nvSpPr>
          <p:cNvPr id="9" name="Text 5"/>
          <p:cNvSpPr txBox="1"/>
          <p:nvPr/>
        </p:nvSpPr>
        <p:spPr>
          <a:xfrm>
            <a:off x="6903720" y="1463040"/>
            <a:ext cx="4663440" cy="411480"/>
          </a:xfrm>
          <a:prstGeom prst="rect">
            <a:avLst/>
          </a:prstGeom>
          <a:noFill/>
          <a:ln/>
        </p:spPr>
        <p:txBody>
          <a:bodyPr wrap="square" lIns="0" tIns="0" rIns="0" bIns="0" rtlCol="0" anchor="ctr"/>
          <a:lstStyle/>
          <a:p>
            <a:pPr indent="0" marL="0">
              <a:buNone/>
            </a:pPr>
            <a:r>
              <a:rPr lang="en-US" sz="1700" b="1" dirty="0">
                <a:solidFill>
                  <a:schemeClr val="tx2"/>
                </a:solidFill>
              </a:rPr>
              <a:t>Simulated acoustic paths</a:t>
            </a:r>
            <a:endParaRPr lang="en-US" sz="1700" dirty="0"/>
          </a:p>
        </p:txBody>
      </p:sp>
      <p:sp>
        <p:nvSpPr>
          <p:cNvPr id="10" name="Text 6"/>
          <p:cNvSpPr txBox="1"/>
          <p:nvPr/>
        </p:nvSpPr>
        <p:spPr>
          <a:xfrm>
            <a:off x="6903720" y="1901952"/>
            <a:ext cx="4663440" cy="1005840"/>
          </a:xfrm>
          <a:prstGeom prst="rect">
            <a:avLst/>
          </a:prstGeom>
          <a:noFill/>
          <a:ln/>
        </p:spPr>
        <p:txBody>
          <a:bodyPr wrap="square" lIns="0" tIns="0" rIns="0" bIns="0" rtlCol="0" anchor="t"/>
          <a:lstStyle/>
          <a:p>
            <a:pPr indent="0" marL="0">
              <a:buNone/>
            </a:pPr>
            <a:r>
              <a:rPr lang="en-US" sz="1400" dirty="0">
                <a:solidFill>
                  <a:schemeClr val="tx1"/>
                </a:solidFill>
              </a:rPr>
              <a:t>Paths are simulated even for real recordings. The base paper's closed-loop feedback (howling) is not covered.</a:t>
            </a:r>
            <a:endParaRPr lang="en-US" sz="1400" dirty="0"/>
          </a:p>
        </p:txBody>
      </p:sp>
      <p:sp>
        <p:nvSpPr>
          <p:cNvPr id="11" name="No analogue output recording circle"/>
          <p:cNvSpPr/>
          <p:nvPr/>
        </p:nvSpPr>
        <p:spPr>
          <a:xfrm>
            <a:off x="548640" y="3200400"/>
            <a:ext cx="502920" cy="502920"/>
          </a:xfrm>
          <a:prstGeom prst="ellipse">
            <a:avLst/>
          </a:prstGeom>
          <a:solidFill>
            <a:schemeClr val="accent2"/>
          </a:solidFill>
          <a:ln w="12700">
            <a:solidFill>
              <a:schemeClr val="accent2"/>
            </a:solidFill>
            <a:prstDash val="solid"/>
          </a:ln>
        </p:spPr>
      </p:sp>
      <p:pic>
        <p:nvPicPr>
          <p:cNvPr id="12" name="No analogue output recording icon" descr="preencoded.png">    </p:cNvPr>
          <p:cNvPicPr>
            <a:picLocks noChangeAspect="1"/>
          </p:cNvPicPr>
          <p:nvPr/>
        </p:nvPicPr>
        <p:blipFill>
          <a:blip r:embed="rId3"/>
          <a:stretch>
            <a:fillRect/>
          </a:stretch>
        </p:blipFill>
        <p:spPr>
          <a:xfrm>
            <a:off x="674370" y="3326130"/>
            <a:ext cx="251460" cy="251460"/>
          </a:xfrm>
          <a:prstGeom prst="rect">
            <a:avLst/>
          </a:prstGeom>
        </p:spPr>
      </p:pic>
      <p:sp>
        <p:nvSpPr>
          <p:cNvPr id="13" name="Text 8"/>
          <p:cNvSpPr txBox="1"/>
          <p:nvPr/>
        </p:nvSpPr>
        <p:spPr>
          <a:xfrm>
            <a:off x="1280160" y="3154680"/>
            <a:ext cx="4663440" cy="411480"/>
          </a:xfrm>
          <a:prstGeom prst="rect">
            <a:avLst/>
          </a:prstGeom>
          <a:noFill/>
          <a:ln/>
        </p:spPr>
        <p:txBody>
          <a:bodyPr wrap="square" lIns="0" tIns="0" rIns="0" bIns="0" rtlCol="0" anchor="ctr"/>
          <a:lstStyle/>
          <a:p>
            <a:pPr indent="0" marL="0">
              <a:buNone/>
            </a:pPr>
            <a:r>
              <a:rPr lang="en-US" sz="1700" b="1" dirty="0">
                <a:solidFill>
                  <a:schemeClr val="tx2"/>
                </a:solidFill>
              </a:rPr>
              <a:t>No analogue output recording</a:t>
            </a:r>
            <a:endParaRPr lang="en-US" sz="1700" dirty="0"/>
          </a:p>
        </p:txBody>
      </p:sp>
      <p:sp>
        <p:nvSpPr>
          <p:cNvPr id="14" name="Text 9"/>
          <p:cNvSpPr txBox="1"/>
          <p:nvPr/>
        </p:nvSpPr>
        <p:spPr>
          <a:xfrm>
            <a:off x="1280160" y="3593592"/>
            <a:ext cx="4663440" cy="1005840"/>
          </a:xfrm>
          <a:prstGeom prst="rect">
            <a:avLst/>
          </a:prstGeom>
          <a:noFill/>
          <a:ln/>
        </p:spPr>
        <p:txBody>
          <a:bodyPr wrap="square" lIns="0" tIns="0" rIns="0" bIns="0" rtlCol="0" anchor="t"/>
          <a:lstStyle/>
          <a:p>
            <a:pPr indent="0" marL="0">
              <a:buNone/>
            </a:pPr>
            <a:r>
              <a:rPr lang="en-US" sz="1400" dirty="0">
                <a:solidFill>
                  <a:schemeClr val="tx1"/>
                </a:solidFill>
              </a:rPr>
              <a:t>Proof stops at the DAC word; LINE OUT was not recorded.</a:t>
            </a:r>
            <a:endParaRPr lang="en-US" sz="1400" dirty="0"/>
          </a:p>
        </p:txBody>
      </p:sp>
      <p:sp>
        <p:nvSpPr>
          <p:cNvPr id="15" name="Level-dependent board NR circle"/>
          <p:cNvSpPr/>
          <p:nvPr/>
        </p:nvSpPr>
        <p:spPr>
          <a:xfrm>
            <a:off x="6172200" y="3200400"/>
            <a:ext cx="502920" cy="502920"/>
          </a:xfrm>
          <a:prstGeom prst="ellipse">
            <a:avLst/>
          </a:prstGeom>
          <a:solidFill>
            <a:schemeClr val="accent2"/>
          </a:solidFill>
          <a:ln w="12700">
            <a:solidFill>
              <a:schemeClr val="accent2"/>
            </a:solidFill>
            <a:prstDash val="solid"/>
          </a:ln>
        </p:spPr>
      </p:sp>
      <p:pic>
        <p:nvPicPr>
          <p:cNvPr id="16" name="Level-dependent board NR icon" descr="preencoded.png">    </p:cNvPr>
          <p:cNvPicPr>
            <a:picLocks noChangeAspect="1"/>
          </p:cNvPicPr>
          <p:nvPr/>
        </p:nvPicPr>
        <p:blipFill>
          <a:blip r:embed="rId4"/>
          <a:stretch>
            <a:fillRect/>
          </a:stretch>
        </p:blipFill>
        <p:spPr>
          <a:xfrm>
            <a:off x="6297930" y="3326130"/>
            <a:ext cx="251460" cy="251460"/>
          </a:xfrm>
          <a:prstGeom prst="rect">
            <a:avLst/>
          </a:prstGeom>
        </p:spPr>
      </p:pic>
      <p:sp>
        <p:nvSpPr>
          <p:cNvPr id="17" name="Text 11"/>
          <p:cNvSpPr txBox="1"/>
          <p:nvPr/>
        </p:nvSpPr>
        <p:spPr>
          <a:xfrm>
            <a:off x="6903720" y="3154680"/>
            <a:ext cx="4663440" cy="411480"/>
          </a:xfrm>
          <a:prstGeom prst="rect">
            <a:avLst/>
          </a:prstGeom>
          <a:noFill/>
          <a:ln/>
        </p:spPr>
        <p:txBody>
          <a:bodyPr wrap="square" lIns="0" tIns="0" rIns="0" bIns="0" rtlCol="0" anchor="ctr"/>
          <a:lstStyle/>
          <a:p>
            <a:pPr indent="0" marL="0">
              <a:buNone/>
            </a:pPr>
            <a:r>
              <a:rPr lang="en-US" sz="1700" b="1" dirty="0">
                <a:solidFill>
                  <a:schemeClr val="tx2"/>
                </a:solidFill>
              </a:rPr>
              <a:t>Level-dependent board NR</a:t>
            </a:r>
            <a:endParaRPr lang="en-US" sz="1700" dirty="0"/>
          </a:p>
        </p:txBody>
      </p:sp>
      <p:sp>
        <p:nvSpPr>
          <p:cNvPr id="18" name="Text 12"/>
          <p:cNvSpPr txBox="1"/>
          <p:nvPr/>
        </p:nvSpPr>
        <p:spPr>
          <a:xfrm>
            <a:off x="6903720" y="3593592"/>
            <a:ext cx="4663440" cy="1005840"/>
          </a:xfrm>
          <a:prstGeom prst="rect">
            <a:avLst/>
          </a:prstGeom>
          <a:noFill/>
          <a:ln/>
        </p:spPr>
        <p:txBody>
          <a:bodyPr wrap="square" lIns="0" tIns="0" rIns="0" bIns="0" rtlCol="0" anchor="t"/>
          <a:lstStyle/>
          <a:p>
            <a:pPr indent="0" marL="0">
              <a:buNone/>
            </a:pPr>
            <a:r>
              <a:rPr lang="en-US" sz="1400" dirty="0">
                <a:solidFill>
                  <a:schemeClr val="tx1"/>
                </a:solidFill>
              </a:rPr>
              <a:t>14–17 dB on the board vs 19–28 dB in simulation, because the input was 3 dB lower. Set codec gain or retune μ.</a:t>
            </a:r>
            <a:endParaRPr lang="en-US" sz="1400" dirty="0"/>
          </a:p>
        </p:txBody>
      </p:sp>
      <p:sp>
        <p:nvSpPr>
          <p:cNvPr id="19" name="Power not final circle"/>
          <p:cNvSpPr/>
          <p:nvPr/>
        </p:nvSpPr>
        <p:spPr>
          <a:xfrm>
            <a:off x="548640" y="4892040"/>
            <a:ext cx="502920" cy="502920"/>
          </a:xfrm>
          <a:prstGeom prst="ellipse">
            <a:avLst/>
          </a:prstGeom>
          <a:solidFill>
            <a:schemeClr val="accent2"/>
          </a:solidFill>
          <a:ln w="12700">
            <a:solidFill>
              <a:schemeClr val="accent2"/>
            </a:solidFill>
            <a:prstDash val="solid"/>
          </a:ln>
        </p:spPr>
      </p:sp>
      <p:pic>
        <p:nvPicPr>
          <p:cNvPr id="20" name="Power not final icon" descr="preencoded.png">    </p:cNvPr>
          <p:cNvPicPr>
            <a:picLocks noChangeAspect="1"/>
          </p:cNvPicPr>
          <p:nvPr/>
        </p:nvPicPr>
        <p:blipFill>
          <a:blip r:embed="rId5"/>
          <a:stretch>
            <a:fillRect/>
          </a:stretch>
        </p:blipFill>
        <p:spPr>
          <a:xfrm>
            <a:off x="674370" y="5017770"/>
            <a:ext cx="251460" cy="251460"/>
          </a:xfrm>
          <a:prstGeom prst="rect">
            <a:avLst/>
          </a:prstGeom>
        </p:spPr>
      </p:pic>
      <p:sp>
        <p:nvSpPr>
          <p:cNvPr id="21" name="Text 14"/>
          <p:cNvSpPr txBox="1"/>
          <p:nvPr/>
        </p:nvSpPr>
        <p:spPr>
          <a:xfrm>
            <a:off x="1280160" y="4846320"/>
            <a:ext cx="4663440" cy="411480"/>
          </a:xfrm>
          <a:prstGeom prst="rect">
            <a:avLst/>
          </a:prstGeom>
          <a:noFill/>
          <a:ln/>
        </p:spPr>
        <p:txBody>
          <a:bodyPr wrap="square" lIns="0" tIns="0" rIns="0" bIns="0" rtlCol="0" anchor="ctr"/>
          <a:lstStyle/>
          <a:p>
            <a:pPr indent="0" marL="0">
              <a:buNone/>
            </a:pPr>
            <a:r>
              <a:rPr lang="en-US" sz="1700" b="1" dirty="0">
                <a:solidFill>
                  <a:schemeClr val="tx2"/>
                </a:solidFill>
              </a:rPr>
              <a:t>Power not final</a:t>
            </a:r>
            <a:endParaRPr lang="en-US" sz="1700" dirty="0"/>
          </a:p>
        </p:txBody>
      </p:sp>
      <p:sp>
        <p:nvSpPr>
          <p:cNvPr id="22" name="Text 15"/>
          <p:cNvSpPr txBox="1"/>
          <p:nvPr/>
        </p:nvSpPr>
        <p:spPr>
          <a:xfrm>
            <a:off x="1280160" y="5285232"/>
            <a:ext cx="4663440" cy="1005840"/>
          </a:xfrm>
          <a:prstGeom prst="rect">
            <a:avLst/>
          </a:prstGeom>
          <a:noFill/>
          <a:ln/>
        </p:spPr>
        <p:txBody>
          <a:bodyPr wrap="square" lIns="0" tIns="0" rIns="0" bIns="0" rtlCol="0" anchor="t"/>
          <a:lstStyle/>
          <a:p>
            <a:pPr indent="0" marL="0">
              <a:buNone/>
            </a:pPr>
            <a:r>
              <a:rPr lang="en-US" sz="1400" dirty="0">
                <a:solidFill>
                  <a:schemeClr val="tx1"/>
                </a:solidFill>
              </a:rPr>
              <a:t>Only vectorless estimates (upper bounds). Gate-level energy per sample is in progress.</a:t>
            </a:r>
            <a:endParaRPr lang="en-US" sz="1400" dirty="0"/>
          </a:p>
        </p:txBody>
      </p:sp>
      <p:sp>
        <p:nvSpPr>
          <p:cNvPr id="23" name="Speech limits adaptation circle"/>
          <p:cNvSpPr/>
          <p:nvPr/>
        </p:nvSpPr>
        <p:spPr>
          <a:xfrm>
            <a:off x="6172200" y="4892040"/>
            <a:ext cx="502920" cy="502920"/>
          </a:xfrm>
          <a:prstGeom prst="ellipse">
            <a:avLst/>
          </a:prstGeom>
          <a:solidFill>
            <a:schemeClr val="accent2"/>
          </a:solidFill>
          <a:ln w="12700">
            <a:solidFill>
              <a:schemeClr val="accent2"/>
            </a:solidFill>
            <a:prstDash val="solid"/>
          </a:ln>
        </p:spPr>
      </p:sp>
      <p:pic>
        <p:nvPicPr>
          <p:cNvPr id="24" name="Speech limits adaptation icon" descr="preencoded.png">    </p:cNvPr>
          <p:cNvPicPr>
            <a:picLocks noChangeAspect="1"/>
          </p:cNvPicPr>
          <p:nvPr/>
        </p:nvPicPr>
        <p:blipFill>
          <a:blip r:embed="rId6"/>
          <a:stretch>
            <a:fillRect/>
          </a:stretch>
        </p:blipFill>
        <p:spPr>
          <a:xfrm>
            <a:off x="6297930" y="5017770"/>
            <a:ext cx="251460" cy="251460"/>
          </a:xfrm>
          <a:prstGeom prst="rect">
            <a:avLst/>
          </a:prstGeom>
        </p:spPr>
      </p:pic>
      <p:sp>
        <p:nvSpPr>
          <p:cNvPr id="25" name="Text 17"/>
          <p:cNvSpPr txBox="1"/>
          <p:nvPr/>
        </p:nvSpPr>
        <p:spPr>
          <a:xfrm>
            <a:off x="6903720" y="4846320"/>
            <a:ext cx="4663440" cy="411480"/>
          </a:xfrm>
          <a:prstGeom prst="rect">
            <a:avLst/>
          </a:prstGeom>
          <a:noFill/>
          <a:ln/>
        </p:spPr>
        <p:txBody>
          <a:bodyPr wrap="square" lIns="0" tIns="0" rIns="0" bIns="0" rtlCol="0" anchor="ctr"/>
          <a:lstStyle/>
          <a:p>
            <a:pPr indent="0" marL="0">
              <a:buNone/>
            </a:pPr>
            <a:r>
              <a:rPr lang="en-US" sz="1700" b="1" dirty="0">
                <a:solidFill>
                  <a:schemeClr val="tx2"/>
                </a:solidFill>
              </a:rPr>
              <a:t>Speech limits adaptation</a:t>
            </a:r>
            <a:endParaRPr lang="en-US" sz="1700" dirty="0"/>
          </a:p>
        </p:txBody>
      </p:sp>
      <p:sp>
        <p:nvSpPr>
          <p:cNvPr id="26" name="Text 18"/>
          <p:cNvSpPr txBox="1"/>
          <p:nvPr/>
        </p:nvSpPr>
        <p:spPr>
          <a:xfrm>
            <a:off x="6903720" y="5285232"/>
            <a:ext cx="4663440" cy="1005840"/>
          </a:xfrm>
          <a:prstGeom prst="rect">
            <a:avLst/>
          </a:prstGeom>
          <a:noFill/>
          <a:ln/>
        </p:spPr>
        <p:txBody>
          <a:bodyPr wrap="square" lIns="0" tIns="0" rIns="0" bIns="0" rtlCol="0" anchor="t"/>
          <a:lstStyle/>
          <a:p>
            <a:pPr indent="0" marL="0">
              <a:buNone/>
            </a:pPr>
            <a:r>
              <a:rPr lang="en-US" sz="1400" dirty="0">
                <a:solidFill>
                  <a:schemeClr val="tx1"/>
                </a:solidFill>
              </a:rPr>
              <a:t>Freezing during speech with a voice-activity detector is not evaluated.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Conclusion</a:t>
            </a:r>
            <a:endParaRPr lang="en-US" sz="6000" dirty="0"/>
          </a:p>
        </p:txBody>
      </p:sp>
      <p:sp>
        <p:nvSpPr>
          <p:cNvPr id="3" name="Text 1"/>
          <p:cNvSpPr txBox="1"/>
          <p:nvPr/>
        </p:nvSpPr>
        <p:spPr>
          <a:xfrm>
            <a:off x="731520" y="2788920"/>
            <a:ext cx="603504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One serial 12-bit, 32-tap core runs LMS, NLMS and NLMS-Shift on a low-cost Cyclone IV board, with no processor.</a:t>
            </a:r>
            <a:endParaRPr lang="en-US" sz="1600" dirty="0"/>
          </a:p>
          <a:p>
            <a:pPr marL="342900" indent="-342900">
              <a:spcAft>
                <a:spcPts val="1000"/>
              </a:spcAft>
              <a:buSzPct val="100000"/>
              <a:buChar char="•"/>
            </a:pPr>
            <a:r>
              <a:rPr lang="en-US" sz="1600" dirty="0">
                <a:solidFill>
                  <a:schemeClr val="bg1"/>
                </a:solidFill>
              </a:rPr>
              <a:t>Under equal tuning, NLMS-Shift matches NLMS within the 95% CI using 72 instead of 130 busy cycles per sample.</a:t>
            </a:r>
            <a:endParaRPr lang="en-US" sz="1600" dirty="0"/>
          </a:p>
          <a:p>
            <a:pPr marL="342900" indent="-342900">
              <a:spcAft>
                <a:spcPts val="1000"/>
              </a:spcAft>
              <a:buSzPct val="100000"/>
              <a:buChar char="•"/>
            </a:pPr>
            <a:r>
              <a:rPr lang="en-US" sz="1600" dirty="0">
                <a:solidFill>
                  <a:schemeClr val="bg1"/>
                </a:solidFill>
              </a:rPr>
              <a:t>Real noise: 11.7–14.9 dB removed, 18.5–31.9 dB without speech, so speech is the limit.</a:t>
            </a:r>
            <a:endParaRPr lang="en-US" sz="1600" dirty="0"/>
          </a:p>
          <a:p>
            <a:pPr marL="342900" indent="-342900">
              <a:spcAft>
                <a:spcPts val="1000"/>
              </a:spcAft>
              <a:buSzPct val="100000"/>
              <a:buChar char="•"/>
            </a:pPr>
            <a:r>
              <a:rPr lang="en-US" sz="1600" dirty="0">
                <a:solidFill>
                  <a:schemeClr val="bg1"/>
                </a:solidFill>
              </a:rPr>
              <a:t>On the board, 724,459 samples are bit-exact; board NR equals the model within 0.2 dB at the received level.</a:t>
            </a:r>
            <a:endParaRPr lang="en-US" sz="1600" dirty="0"/>
          </a:p>
        </p:txBody>
      </p:sp>
      <p:sp>
        <p:nvSpPr>
          <p:cNvPr id="4" name="Future work card"/>
          <p:cNvSpPr/>
          <p:nvPr/>
        </p:nvSpPr>
        <p:spPr>
          <a:xfrm>
            <a:off x="7223760" y="2788920"/>
            <a:ext cx="4206240" cy="3429000"/>
          </a:xfrm>
          <a:prstGeom prst="roundRect">
            <a:avLst>
              <a:gd name="adj" fmla="val 2667"/>
            </a:avLst>
          </a:prstGeom>
          <a:solidFill>
            <a:srgbClr val="16505B"/>
          </a:solidFill>
          <a:ln w="12700">
            <a:solidFill>
              <a:srgbClr val="16505B"/>
            </a:solidFill>
            <a:prstDash val="solid"/>
          </a:ln>
        </p:spPr>
      </p:sp>
      <p:sp>
        <p:nvSpPr>
          <p:cNvPr id="5" name="Text 3"/>
          <p:cNvSpPr txBox="1"/>
          <p:nvPr/>
        </p:nvSpPr>
        <p:spPr>
          <a:xfrm>
            <a:off x="7452360" y="2971800"/>
            <a:ext cx="374904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Future work</a:t>
            </a:r>
            <a:endParaRPr lang="en-US" sz="2000" dirty="0"/>
          </a:p>
        </p:txBody>
      </p:sp>
      <p:sp>
        <p:nvSpPr>
          <p:cNvPr id="6" name="Text 4"/>
          <p:cNvSpPr txBox="1"/>
          <p:nvPr/>
        </p:nvSpPr>
        <p:spPr>
          <a:xfrm>
            <a:off x="7452360" y="3474720"/>
            <a:ext cx="3794760" cy="26517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Gate-level energy per sample, then compare with Huang &amp; Yao</a:t>
            </a:r>
            <a:endParaRPr lang="en-US" sz="1500" dirty="0"/>
          </a:p>
          <a:p>
            <a:pPr marL="342900" indent="-342900">
              <a:spcAft>
                <a:spcPts val="600"/>
              </a:spcAft>
              <a:buSzPct val="100000"/>
              <a:buChar char="•"/>
            </a:pPr>
            <a:r>
              <a:rPr lang="en-US" sz="1500" dirty="0">
                <a:solidFill>
                  <a:schemeClr val="bg1"/>
                </a:solidFill>
              </a:rPr>
              <a:t>Voice-activity detector driving the freeze input</a:t>
            </a:r>
            <a:endParaRPr lang="en-US" sz="1500" dirty="0"/>
          </a:p>
          <a:p>
            <a:pPr marL="342900" indent="-342900">
              <a:spcAft>
                <a:spcPts val="600"/>
              </a:spcAft>
              <a:buSzPct val="100000"/>
              <a:buChar char="•"/>
            </a:pPr>
            <a:r>
              <a:rPr lang="en-US" sz="1500" dirty="0">
                <a:solidFill>
                  <a:schemeClr val="bg1"/>
                </a:solidFill>
              </a:rPr>
              <a:t>Codec gain or step retune for the expected level</a:t>
            </a:r>
            <a:endParaRPr lang="en-US" sz="1500" dirty="0"/>
          </a:p>
          <a:p>
            <a:pPr marL="342900" indent="-342900">
              <a:spcAft>
                <a:spcPts val="600"/>
              </a:spcAft>
              <a:buSzPct val="100000"/>
              <a:buChar char="•"/>
            </a:pPr>
            <a:r>
              <a:rPr lang="en-US" sz="1500" dirty="0">
                <a:solidFill>
                  <a:schemeClr val="bg1"/>
                </a:solidFill>
              </a:rPr>
              <a:t>Multi-channel time-sharing (core is ~98% idle)</a:t>
            </a:r>
            <a:endParaRPr lang="en-US" sz="1500" dirty="0"/>
          </a:p>
          <a:p>
            <a:pPr marL="342900" indent="-342900">
              <a:spcAft>
                <a:spcPts val="600"/>
              </a:spcAft>
              <a:buSzPct val="100000"/>
              <a:buChar char="•"/>
            </a:pPr>
            <a:r>
              <a:rPr lang="en-US" sz="1500" dirty="0">
                <a:solidFill>
                  <a:schemeClr val="bg1"/>
                </a:solidFill>
              </a:rPr>
              <a:t>Public release with a DOI</a:t>
            </a:r>
            <a:endParaRPr lang="en-US" sz="1500" dirty="0"/>
          </a:p>
        </p:txBody>
      </p:sp>
      <p:sp>
        <p:nvSpPr>
          <p:cNvPr id="7" name="Text 5"/>
          <p:cNvSpPr txBox="1"/>
          <p:nvPr/>
        </p:nvSpPr>
        <p:spPr>
          <a:xfrm>
            <a:off x="731520" y="6172200"/>
            <a:ext cx="6035040" cy="411480"/>
          </a:xfrm>
          <a:prstGeom prst="rect">
            <a:avLst/>
          </a:prstGeom>
          <a:noFill/>
          <a:ln/>
        </p:spPr>
        <p:txBody>
          <a:bodyPr wrap="square" lIns="0" tIns="0" rIns="0" bIns="0" rtlCol="0" anchor="t"/>
          <a:lstStyle/>
          <a:p>
            <a:pPr indent="0" marL="0">
              <a:buNone/>
            </a:pPr>
            <a:r>
              <a:rPr lang="en-US" sz="1800" b="1" dirty="0">
                <a:solidFill>
                  <a:schemeClr val="accent2"/>
                </a:solidFill>
              </a:rPr>
              <a:t>Thank you  ·  Questions?</a:t>
            </a:r>
            <a:endParaRPr lang="en-US" sz="1800" dirty="0"/>
          </a:p>
        </p:txBody>
      </p:sp>
      <p:sp>
        <p:nvSpPr>
          <p:cNvPr id="9" name="Text 0"/>
          <p:cNvSpPr/>
          <p:nvPr>
            <p:ph idx="101" type="body" hasCustomPrompt="1"/>
          </p:nvPr>
        </p:nvSpPr>
        <p:spPr>
          <a:xfrm>
            <a:off x="731520" y="2743200"/>
            <a:ext cx="10058400" cy="1188720"/>
          </a:xfrm>
          <a:prstGeom prst="rect">
            <a:avLst/>
          </a:prstGeom>
          <a:noFill/>
          <a:ln/>
        </p:spPr>
        <p:txBody>
          <a:bodyPr wrap="square" lIns="0" tIns="0" rIns="0" bIns="0" rtlCol="0" anchor="t"/>
          <a:lstStyle/>
          <a:p>
            <a:pPr indent="0" marL="0">
              <a:buNone/>
            </a:pPr>
            <a:endParaRPr lang="en-US" sz="2200" dirty="0"/>
          </a:p>
        </p:txBody>
      </p:sp>
    </p:spTree>
  </p:cSld>
  <p:clrMapOvr>
    <a:masterClrMapping/>
  </p:clrMapOvr>
</p:sld>
</file>

<file path=ppt/theme/theme1.xml><?xml version="1.0" encoding="utf-8"?>
<a:theme xmlns:a="http://schemas.openxmlformats.org/drawingml/2006/main" name="ULLAP Signal">
  <a:themeElements>
    <a:clrScheme name="ULLAP Signal">
      <a:dk1>
        <a:srgbClr val="1B2430"/>
      </a:dk1>
      <a:lt1>
        <a:srgbClr val="FFFFFF"/>
      </a:lt1>
      <a:dk2>
        <a:srgbClr val="0D3B44"/>
      </a:dk2>
      <a:lt2>
        <a:srgbClr val="EDF3F4"/>
      </a:lt2>
      <a:accent1>
        <a:srgbClr val="0E7C86"/>
      </a:accent1>
      <a:accent2>
        <a:srgbClr val="F2A541"/>
      </a:accent2>
      <a:accent3>
        <a:srgbClr val="1F77B4"/>
      </a:accent3>
      <a:accent4>
        <a:srgbClr val="FF7F0E"/>
      </a:accent4>
      <a:accent5>
        <a:srgbClr val="2CA02C"/>
      </a:accent5>
      <a:accent6>
        <a:srgbClr val="6C7A89"/>
      </a:accent6>
      <a:hlink>
        <a:srgbClr val="0E7C86"/>
      </a:hlink>
      <a:folHlink>
        <a:srgbClr val="6C7A89"/>
      </a:folHlink>
    </a:clrScheme>
    <a:fontScheme name="ULLAP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ULLAP: FPGA adaptive noise canceller</dc:title>
  <dc:subject>PptxGenJS Presentation</dc:subject>
  <dc:creator>Satvik Garg, Aditya Gupta</dc:creator>
  <cp:lastModifiedBy>Satvik Garg, Aditya Gupta</cp:lastModifiedBy>
  <cp:revision>1</cp:revision>
  <dcterms:created xsi:type="dcterms:W3CDTF">2026-10-27T04:46:16Z</dcterms:created>
  <dcterms:modified xsi:type="dcterms:W3CDTF">2026-10-27T04:46:16Z</dcterms:modified>
</cp:coreProperties>
</file>